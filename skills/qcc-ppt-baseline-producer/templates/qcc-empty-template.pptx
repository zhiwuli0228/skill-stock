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  <p:sldMasterId id="2147483797" r:id="rId2"/>
    <p:sldMasterId id="2147483816" r:id="rId3"/>
    <p:sldMasterId id="2147483683" r:id="rId4"/>
  </p:sldMasterIdLst>
  <p:notesMasterIdLst>
    <p:notesMasterId r:id="rId10"/>
  </p:notesMasterIdLst>
  <p:handoutMasterIdLst>
    <p:handoutMasterId r:id="rId11"/>
  </p:handoutMasterIdLst>
  <p:sldIdLst>
    <p:sldId id="256" r:id="rId9"/>
    <p:sldId id="257" r:id="rId8"/>
    <p:sldId id="258" r:id="rId7"/>
    <p:sldId id="259" r:id="rId6"/>
    <p:sldId id="260" r:id="rId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</p:sldIdLst>
  <p:sldSz cx="12191999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283"/>
          </p14:sldIdLst>
        </p14:section>
        <p14:section name="目录页" id="{9D221634-295C-7843-AF5C-A0CB4F229241}">
          <p14:sldIdLst>
            <p14:sldId id="282"/>
          </p14:sldIdLst>
        </p14:section>
        <p14:section name="章节页" id="{FD05EE94-C931-8C4B-83A2-004B32AA1207}">
          <p14:sldIdLst>
            <p14:sldId id="281"/>
            <p14:sldId id="285"/>
          </p14:sldIdLst>
        </p14:section>
        <p14:section name="结束页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5" pos="3701" userDrawn="1">
          <p15:clr>
            <a:srgbClr val="A4A3A4"/>
          </p15:clr>
        </p15:guide>
        <p15:guide id="6" orient="horz" pos="2159" userDrawn="1">
          <p15:clr>
            <a:srgbClr val="A4A3A4"/>
          </p15:clr>
        </p15:guide>
        <p15:guide id="7" pos="35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1515"/>
    <a:srgbClr val="C7000B"/>
    <a:srgbClr val="575756"/>
    <a:srgbClr val="FFFFFF"/>
    <a:srgbClr val="DD4654"/>
    <a:srgbClr val="F3D2D5"/>
    <a:srgbClr val="E6A8AD"/>
    <a:srgbClr val="E57B84"/>
    <a:srgbClr val="E57984"/>
    <a:srgbClr val="BF00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91"/>
  </p:normalViewPr>
  <p:slideViewPr>
    <p:cSldViewPr snapToGrid="0" snapToObjects="1">
      <p:cViewPr varScale="1">
        <p:scale>
          <a:sx n="88" d="100"/>
          <a:sy n="88" d="100"/>
        </p:scale>
        <p:origin x="460" y="68"/>
      </p:cViewPr>
      <p:guideLst>
        <p:guide pos="3701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2.xml"/><Relationship Id="rId9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项</c:v>
                </c:pt>
              </c:strCache>
            </c:strRef>
          </c:tx>
          <c:spPr>
            <a:solidFill>
              <a:srgbClr val="1F4E79"/>
            </a:solidFill>
          </c:spPr>
          <c:cat>
            <c:strRef>
              <c:f>Sheet1!$A$2:$A$7</c:f>
              <c:strCache>
                <c:ptCount val="6"/>
                <c:pt idx="0">
                  <c:v>单元</c:v>
                </c:pt>
                <c:pt idx="1">
                  <c:v>集成</c:v>
                </c:pt>
                <c:pt idx="2">
                  <c:v>E2E</c:v>
                </c:pt>
                <c:pt idx="3">
                  <c:v>振荡</c:v>
                </c:pt>
                <c:pt idx="4">
                  <c:v>过载</c:v>
                </c:pt>
                <c:pt idx="5">
                  <c:v>敏感性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220.0</c:v>
                </c:pt>
                <c:pt idx="1">
                  <c:v>160.0</c:v>
                </c:pt>
                <c:pt idx="2">
                  <c:v>96.0</c:v>
                </c:pt>
                <c:pt idx="3">
                  <c:v>64.0</c:v>
                </c:pt>
                <c:pt idx="4">
                  <c:v>58.0</c:v>
                </c:pt>
                <c:pt idx="5">
                  <c:v>48.0</c:v>
                </c:pt>
              </c:numCache>
            </c:numRef>
          </c:val>
        </c:ser>
        <c:dLbls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none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dPt>
            <c:idx val="0"/>
            <c:spPr>
              <a:solidFill>
                <a:srgbClr val="C8102E"/>
              </a:solidFill>
            </c:spPr>
          </c:dPt>
          <c:dPt>
            <c:idx val="1"/>
            <c:spPr>
              <a:solidFill>
                <a:srgbClr val="EB5C01"/>
              </a:solidFill>
            </c:spPr>
          </c:dPt>
          <c:cat>
            <c:strRef>
              <c:f>Sheet1!$A$2:$A$3</c:f>
              <c:strCache>
                <c:ptCount val="2"/>
                <c:pt idx="0">
                  <c:v>关闭</c:v>
                </c:pt>
                <c:pt idx="1">
                  <c:v>受控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4.0</c:v>
                </c:pt>
                <c:pt idx="1">
                  <c:v>2.0</c:v>
                </c:pt>
              </c:numCache>
            </c:numRef>
          </c:val>
        </c:ser>
        <c:dLbls>
          <c:txPr>
            <a:bodyPr/>
            <a:lstStyle/>
            <a:p>
              <a:pPr>
                <a:defRPr sz="700"/>
              </a:pPr>
            </a:p>
          </c:txPr>
          <c:dLblPos val="bestFit"/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改善前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Sheet1!$A$2:$A$4</c:f>
              <c:strCache>
                <c:ptCount val="3"/>
                <c:pt idx="0">
                  <c:v>拒绝次数</c:v>
                </c:pt>
                <c:pt idx="1">
                  <c:v>平均线程</c:v>
                </c:pt>
                <c:pt idx="2">
                  <c:v>方向反转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12.0</c:v>
                </c:pt>
                <c:pt idx="1">
                  <c:v>8.0</c:v>
                </c:pt>
                <c:pt idx="2">
                  <c:v>3.0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改善后</c:v>
                </c:pt>
              </c:strCache>
            </c:strRef>
          </c:tx>
          <c:spPr>
            <a:solidFill>
              <a:srgbClr val="EB5C01"/>
            </a:solidFill>
          </c:spPr>
          <c:cat>
            <c:strRef>
              <c:f>Sheet1!$A$2:$A$4</c:f>
              <c:strCache>
                <c:ptCount val="3"/>
                <c:pt idx="0">
                  <c:v>拒绝次数</c:v>
                </c:pt>
                <c:pt idx="1">
                  <c:v>平均线程</c:v>
                </c:pt>
                <c:pt idx="2">
                  <c:v>方向反转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</c:v>
                </c:pt>
                <c:pt idx="1">
                  <c:v>5.4</c:v>
                </c:pt>
                <c:pt idx="2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none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拒绝数</c:v>
                </c:pt>
              </c:strCache>
            </c:strRef>
          </c:tx>
          <c:spPr>
            <a:ln w="20320">
              <a:solidFill>
                <a:srgbClr val="C8102E"/>
              </a:solidFill>
            </a:ln>
          </c:spPr>
          <c:cat>
            <c:strRef>
              <c:f>Sheet1!$A$2:$A$6</c:f>
              <c:strCache>
                <c:ptCount val="5"/>
                <c:pt idx="0">
                  <c:v>基线</c:v>
                </c:pt>
                <c:pt idx="1">
                  <c:v>采样</c:v>
                </c:pt>
                <c:pt idx="2">
                  <c:v>安全门</c:v>
                </c:pt>
                <c:pt idx="3">
                  <c:v>证据链</c:v>
                </c:pt>
                <c:pt idx="4">
                  <c:v>回归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12.0</c:v>
                </c:pt>
                <c:pt idx="1">
                  <c:v>7.0</c:v>
                </c:pt>
                <c:pt idx="2">
                  <c:v>2.0</c:v>
                </c:pt>
                <c:pt idx="3">
                  <c:v>0.0</c:v>
                </c:pt>
                <c:pt idx="4">
                  <c:v>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风险项</c:v>
                </c:pt>
              </c:strCache>
            </c:strRef>
          </c:tx>
          <c:spPr>
            <a:ln w="20320">
              <a:solidFill>
                <a:srgbClr val="EB5C01"/>
              </a:solidFill>
            </a:ln>
          </c:spPr>
          <c:cat>
            <c:strRef>
              <c:f>Sheet1!$A$2:$A$6</c:f>
              <c:strCache>
                <c:ptCount val="5"/>
                <c:pt idx="0">
                  <c:v>基线</c:v>
                </c:pt>
                <c:pt idx="1">
                  <c:v>采样</c:v>
                </c:pt>
                <c:pt idx="2">
                  <c:v>安全门</c:v>
                </c:pt>
                <c:pt idx="3">
                  <c:v>证据链</c:v>
                </c:pt>
                <c:pt idx="4">
                  <c:v>回归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6.0</c:v>
                </c:pt>
                <c:pt idx="1">
                  <c:v>5.0</c:v>
                </c:pt>
                <c:pt idx="2">
                  <c:v>3.0</c:v>
                </c:pt>
                <c:pt idx="3">
                  <c:v>1.0</c:v>
                </c:pt>
                <c:pt idx="4">
                  <c:v>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none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dPt>
            <c:idx val="0"/>
            <c:spPr>
              <a:solidFill>
                <a:srgbClr val="C8102E"/>
              </a:solidFill>
            </c:spPr>
          </c:dPt>
          <c:dPt>
            <c:idx val="1"/>
            <c:spPr>
              <a:solidFill>
                <a:srgbClr val="EB5C01"/>
              </a:solidFill>
            </c:spPr>
          </c:dPt>
          <c:cat>
            <c:strRef>
              <c:f>Sheet1!$A$2:$A$3</c:f>
              <c:strCache>
                <c:ptCount val="2"/>
                <c:pt idx="0">
                  <c:v>关闭</c:v>
                </c:pt>
                <c:pt idx="1">
                  <c:v>受控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4.0</c:v>
                </c:pt>
                <c:pt idx="1">
                  <c:v>2.0</c:v>
                </c:pt>
              </c:numCache>
            </c:numRef>
          </c:val>
        </c:ser>
        <c:dLbls>
          <c:txPr>
            <a:bodyPr/>
            <a:lstStyle/>
            <a:p>
              <a:pPr>
                <a:defRPr sz="700"/>
              </a:pPr>
            </a:p>
          </c:txPr>
          <c:dLblPos val="bestFit"/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1/28/2021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1/28/2021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</p:spTree>
    <p:extLst>
      <p:ext uri="{BB962C8B-B14F-4D97-AF65-F5344CB8AC3E}">
        <p14:creationId xmlns:p14="http://schemas.microsoft.com/office/powerpoint/2010/main" val="32660359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62AA4863-E1EF-3342-A8CB-ECD4FD06CE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="" xmlns:a16="http://schemas.microsoft.com/office/drawing/2014/main" id="{195303EA-8491-464F-99A0-67F948701C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84759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/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>
            <a:extLst>
              <a:ext uri="{FF2B5EF4-FFF2-40B4-BE49-F238E27FC236}">
                <a16:creationId xmlns="" xmlns:a16="http://schemas.microsoft.com/office/drawing/2014/main" id="{6BB7B2F8-0AF7-D04F-81DD-52FDB6B732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4499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灯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="" xmlns:a16="http://schemas.microsoft.com/office/drawing/2014/main" id="{E2C11B17-3CC6-445B-AC71-74F18E4B41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" t="7030" b="11599"/>
          <a:stretch/>
        </p:blipFill>
        <p:spPr>
          <a:xfrm>
            <a:off x="0" y="0"/>
            <a:ext cx="12196763" cy="5602265"/>
          </a:xfrm>
          <a:prstGeom prst="rect">
            <a:avLst/>
          </a:prstGeom>
        </p:spPr>
      </p:pic>
      <p:sp>
        <p:nvSpPr>
          <p:cNvPr id="13" name="L 形 12">
            <a:extLst>
              <a:ext uri="{FF2B5EF4-FFF2-40B4-BE49-F238E27FC236}">
                <a16:creationId xmlns="" xmlns:a16="http://schemas.microsoft.com/office/drawing/2014/main" id="{D9C13A00-1073-4DDB-80E9-154875087B13}"/>
              </a:ext>
            </a:extLst>
          </p:cNvPr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C897A368-8F39-4049-9BB0-AEB315EB7E0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="" xmlns:a16="http://schemas.microsoft.com/office/drawing/2014/main" id="{12621051-E1A4-A049-BF21-61B18B3483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399749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page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422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579137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2" pos="384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42AF307D-40F4-EC4C-9108-79E948007529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66478601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3.xml"/><Relationship Id="rId3" Type="http://schemas.openxmlformats.org/officeDocument/2006/relationships/image" Target="../media/image6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4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6168"/>
            <a:ext cx="2258389" cy="48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0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7" r:id="rId3"/>
    <p:sldLayoutId id="2147483822" r:id="rId4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59" userDrawn="1">
          <p15:clr>
            <a:srgbClr val="F26B43"/>
          </p15:clr>
        </p15:guide>
        <p15:guide id="2" pos="3841" userDrawn="1">
          <p15:clr>
            <a:srgbClr val="F26B43"/>
          </p15:clr>
        </p15:guide>
        <p15:guide id="3" pos="565" userDrawn="1">
          <p15:clr>
            <a:srgbClr val="F26B43"/>
          </p15:clr>
        </p15:guide>
        <p15:guide id="4" orient="horz" pos="4007" userDrawn="1">
          <p15:clr>
            <a:srgbClr val="F26B43"/>
          </p15:clr>
        </p15:guide>
        <p15:guide id="5" orient="horz" pos="1235" userDrawn="1">
          <p15:clr>
            <a:srgbClr val="F26B43"/>
          </p15:clr>
        </p15:guide>
        <p15:guide id="6" orient="horz" pos="553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239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25" userDrawn="1">
          <p15:clr>
            <a:srgbClr val="F26B43"/>
          </p15:clr>
        </p15:guide>
        <p15:guide id="5" orient="horz" pos="410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="" xmlns:a16="http://schemas.microsoft.com/office/drawing/2014/main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186C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="" xmlns:a16="http://schemas.microsoft.com/office/drawing/2014/main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185C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="" xmlns:a16="http://schemas.microsoft.com/office/drawing/2014/main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>
                <a:extLst>
                  <a:ext uri="{FF2B5EF4-FFF2-40B4-BE49-F238E27FC236}">
                    <a16:creationId xmlns="" xmlns:a16="http://schemas.microsoft.com/office/drawing/2014/main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234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="" xmlns:a16="http://schemas.microsoft.com/office/drawing/2014/main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120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="" xmlns:a16="http://schemas.microsoft.com/office/drawing/2014/main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="" xmlns:a16="http://schemas.microsoft.com/office/drawing/2014/main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248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="" xmlns:a16="http://schemas.microsoft.com/office/drawing/2014/main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235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="" xmlns:a16="http://schemas.microsoft.com/office/drawing/2014/main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137/137/137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="" xmlns:a16="http://schemas.microsoft.com/office/drawing/2014/main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35/24/21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="" xmlns:a16="http://schemas.microsoft.com/office/drawing/2014/main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221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="" xmlns:a16="http://schemas.microsoft.com/office/drawing/2014/main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233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="" xmlns:a16="http://schemas.microsoft.com/office/drawing/2014/main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159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="" xmlns:a16="http://schemas.microsoft.com/office/drawing/2014/main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245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="" xmlns:a16="http://schemas.microsoft.com/office/drawing/2014/main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240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="" xmlns:a16="http://schemas.microsoft.com/office/drawing/2014/main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181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="" xmlns:a16="http://schemas.microsoft.com/office/drawing/2014/main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89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="" xmlns:a16="http://schemas.microsoft.com/office/drawing/2014/main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255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905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25" userDrawn="1">
          <p15:clr>
            <a:srgbClr val="F26B43"/>
          </p15:clr>
        </p15:guide>
        <p15:guide id="5" orient="horz" pos="410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">
            <a:extLst>
              <a:ext uri="{FF2B5EF4-FFF2-40B4-BE49-F238E27FC236}">
                <a16:creationId xmlns=""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 smtClean="0">
                <a:solidFill>
                  <a:srgbClr val="1D1D1B"/>
                </a:solidFill>
                <a:latin typeface="+mj-lt"/>
              </a:rPr>
              <a:t>Copyright©2021 </a:t>
            </a: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r>
              <a:rPr kumimoji="1" lang="en-US" altLang="zh-CN" sz="779" dirty="0">
                <a:solidFill>
                  <a:srgbClr val="1D1D1B"/>
                </a:solidFill>
                <a:latin typeface="+mn-lt"/>
              </a:rPr>
              <a:t/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779" dirty="0">
                <a:solidFill>
                  <a:srgbClr val="1D1D1B"/>
                </a:solidFill>
                <a:latin typeface="+mn-lt"/>
              </a:rPr>
              <a:t/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>
            <a:extLst>
              <a:ext uri="{FF2B5EF4-FFF2-40B4-BE49-F238E27FC236}">
                <a16:creationId xmlns=""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/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=""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99" name="图片 9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40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1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225296"/>
            <a:ext cx="7178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QCC 成果汇报模板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96112" y="1847088"/>
            <a:ext cx="978407" cy="0"/>
          </a:xfrm>
          <a:prstGeom prst="line">
            <a:avLst/>
          </a:prstGeom>
          <a:ln w="3048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2084831"/>
            <a:ext cx="6766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【请填写本页说明：用一句话说明本页要表达的核心结论】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69080"/>
            <a:ext cx="43891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61688"/>
            <a:ext cx="43891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【请填写指标】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54296"/>
            <a:ext cx="43891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【请填写数据】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46904"/>
            <a:ext cx="43891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【请填写证据】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58368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汇报路径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96112" y="1152144"/>
            <a:ext cx="886968" cy="0"/>
          </a:xfrm>
          <a:prstGeom prst="line">
            <a:avLst/>
          </a:prstGeom>
          <a:ln w="2794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960120" y="1874519"/>
            <a:ext cx="2240280" cy="2926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" y="1874519"/>
            <a:ext cx="2240280" cy="438912"/>
          </a:xfrm>
          <a:prstGeom prst="rect">
            <a:avLst/>
          </a:prstGeom>
          <a:solidFill>
            <a:srgbClr val="FDECE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" y="2029968"/>
            <a:ext cx="320040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C8102E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72184" y="2002536"/>
            <a:ext cx="1371600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【请填写本页说明：用一句话说明本页要表达的核心结论】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9576" y="2788920"/>
            <a:ext cx="17830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0" y="1874519"/>
            <a:ext cx="2240280" cy="2926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03320" y="1874519"/>
            <a:ext cx="2240280" cy="438912"/>
          </a:xfrm>
          <a:prstGeom prst="rect">
            <a:avLst/>
          </a:prstGeom>
          <a:solidFill>
            <a:srgbClr val="FDECEE"/>
          </a:solidFill>
          <a:ln w="8890"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9624" y="2029968"/>
            <a:ext cx="320040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EB5C01"/>
                </a:solidFill>
                <a:latin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15383" y="2002536"/>
            <a:ext cx="1371600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EB5C01"/>
                </a:solidFill>
                <a:latin typeface="Microsoft YaHei"/>
              </a:rPr>
              <a:t>原因与对策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22776" y="2788920"/>
            <a:ext cx="17830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【请填写指标】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1874519"/>
            <a:ext cx="2240280" cy="2926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46520" y="1874519"/>
            <a:ext cx="2240280" cy="438912"/>
          </a:xfrm>
          <a:prstGeom prst="rect">
            <a:avLst/>
          </a:prstGeom>
          <a:solidFill>
            <a:srgbClr val="FDECEE"/>
          </a:solidFill>
          <a:ln w="889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92824" y="2029968"/>
            <a:ext cx="320040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1F4E79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8583" y="2002536"/>
            <a:ext cx="1371600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1F4E79"/>
                </a:solidFill>
                <a:latin typeface="Microsoft YaHei"/>
              </a:rPr>
              <a:t>验证与结果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5976" y="2788920"/>
            <a:ext cx="17830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【请填写数据】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874519"/>
            <a:ext cx="2240280" cy="2926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1874519"/>
            <a:ext cx="2240280" cy="438912"/>
          </a:xfrm>
          <a:prstGeom prst="rect">
            <a:avLst/>
          </a:prstGeom>
          <a:solidFill>
            <a:srgbClr val="FDECEE"/>
          </a:solidFill>
          <a:ln w="8890">
            <a:solidFill>
              <a:srgbClr val="009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36024" y="2029968"/>
            <a:ext cx="320040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009944"/>
                </a:solidFill>
                <a:latin typeface="Microsoft Ya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01784" y="2002536"/>
            <a:ext cx="1371600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009944"/>
                </a:solidFill>
                <a:latin typeface="Microsoft YaHei"/>
              </a:rPr>
              <a:t>标准化与推广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9176" y="2788920"/>
            <a:ext cx="17830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【请填写证据】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60704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汇报摘要：先给结论，再展开 QCC 改善闭环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96112" y="1060704"/>
            <a:ext cx="868680" cy="0"/>
          </a:xfrm>
          <a:prstGeom prst="line">
            <a:avLst/>
          </a:prstGeom>
          <a:ln w="254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96112" y="1170432"/>
            <a:ext cx="10058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【请填写本页说明：用一句话说明本页要表达的核心结论】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572768"/>
            <a:ext cx="2331720" cy="11704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572768"/>
            <a:ext cx="73152" cy="1170432"/>
          </a:xfrm>
          <a:prstGeom prst="rect">
            <a:avLst/>
          </a:prstGeom>
          <a:solidFill>
            <a:srgbClr val="009944"/>
          </a:solidFill>
          <a:ln w="8890">
            <a:solidFill>
              <a:srgbClr val="009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1719072"/>
            <a:ext cx="1929384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1984248"/>
            <a:ext cx="192938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50" b="1">
                <a:solidFill>
                  <a:srgbClr val="009944"/>
                </a:solidFill>
                <a:latin typeface="Microsoft YaHei"/>
              </a:rPr>
              <a:t>646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359152"/>
            <a:ext cx="192938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【请填写指标】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572768"/>
            <a:ext cx="2331720" cy="11704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572768"/>
            <a:ext cx="73152" cy="1170432"/>
          </a:xfrm>
          <a:prstGeom prst="rect">
            <a:avLst/>
          </a:prstGeom>
          <a:solidFill>
            <a:srgbClr val="C8102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19072"/>
            <a:ext cx="1929384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【请填写数据】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1984248"/>
            <a:ext cx="192938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【请填写证据】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359152"/>
            <a:ext cx="192938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【请填写结论】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572768"/>
            <a:ext cx="2331720" cy="11704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89320" y="1572768"/>
            <a:ext cx="73152" cy="1170432"/>
          </a:xfrm>
          <a:prstGeom prst="rect">
            <a:avLst/>
          </a:prstGeom>
          <a:solidFill>
            <a:srgbClr val="EB5C01"/>
          </a:solidFill>
          <a:ln w="8890"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0488" y="1719072"/>
            <a:ext cx="1929384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【请填写对策】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1984248"/>
            <a:ext cx="192938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【请填写验证方式】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0488" y="2359152"/>
            <a:ext cx="192938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【请填写改善前】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40" y="1572768"/>
            <a:ext cx="2331720" cy="11704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49640" y="1572768"/>
            <a:ext cx="73152" cy="1170432"/>
          </a:xfrm>
          <a:prstGeom prst="rect">
            <a:avLst/>
          </a:prstGeom>
          <a:solidFill>
            <a:srgbClr val="1F4E79"/>
          </a:solidFill>
          <a:ln w="889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50808" y="1719072"/>
            <a:ext cx="1929384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【请填写改善后】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0808" y="1984248"/>
            <a:ext cx="192938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0808" y="2359152"/>
            <a:ext cx="192938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【请填写指标】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3154680"/>
            <a:ext cx="2395728" cy="1005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8680" y="3154680"/>
            <a:ext cx="2395728" cy="256032"/>
          </a:xfrm>
          <a:prstGeom prst="rect">
            <a:avLst/>
          </a:prstGeom>
          <a:solidFill>
            <a:srgbClr val="FDECE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3227832"/>
            <a:ext cx="347472" cy="731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80" b="1">
                <a:solidFill>
                  <a:srgbClr val="C8102E"/>
                </a:solidFill>
                <a:latin typeface="Microsoft YaHei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4168" y="3218688"/>
            <a:ext cx="1828800" cy="822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【请填写数据】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3" y="3557016"/>
            <a:ext cx="2103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【请填写证据】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310128" y="3657600"/>
            <a:ext cx="210312" cy="0"/>
          </a:xfrm>
          <a:prstGeom prst="line">
            <a:avLst/>
          </a:prstGeom>
          <a:ln w="13970">
            <a:solidFill>
              <a:srgbClr val="898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593591" y="3154680"/>
            <a:ext cx="2395728" cy="1005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93591" y="3154680"/>
            <a:ext cx="2395728" cy="256032"/>
          </a:xfrm>
          <a:prstGeom prst="rect">
            <a:avLst/>
          </a:prstGeom>
          <a:solidFill>
            <a:srgbClr val="FDECEE"/>
          </a:solidFill>
          <a:ln w="8890"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85031" y="3227832"/>
            <a:ext cx="347472" cy="731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80" b="1">
                <a:solidFill>
                  <a:srgbClr val="EB5C01"/>
                </a:solidFill>
                <a:latin typeface="Microsoft YaHei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9079" y="3218688"/>
            <a:ext cx="1828800" cy="822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【请填写结论】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39896" y="3557016"/>
            <a:ext cx="2103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【请填写对策】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035040" y="3657600"/>
            <a:ext cx="210312" cy="0"/>
          </a:xfrm>
          <a:prstGeom prst="line">
            <a:avLst/>
          </a:prstGeom>
          <a:ln w="13970">
            <a:solidFill>
              <a:srgbClr val="898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318504" y="3154680"/>
            <a:ext cx="2395728" cy="1005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18504" y="3154680"/>
            <a:ext cx="2395728" cy="256032"/>
          </a:xfrm>
          <a:prstGeom prst="rect">
            <a:avLst/>
          </a:prstGeom>
          <a:solidFill>
            <a:srgbClr val="FDECEE"/>
          </a:solidFill>
          <a:ln w="889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9944" y="3227832"/>
            <a:ext cx="347472" cy="731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80" b="1">
                <a:solidFill>
                  <a:srgbClr val="1F4E79"/>
                </a:solidFill>
                <a:latin typeface="Microsoft YaHei"/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93992" y="3218688"/>
            <a:ext cx="1828800" cy="822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【请填写验证方式】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64808" y="3557016"/>
            <a:ext cx="2103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【请填写改善前】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759952" y="3657600"/>
            <a:ext cx="210312" cy="0"/>
          </a:xfrm>
          <a:prstGeom prst="line">
            <a:avLst/>
          </a:prstGeom>
          <a:ln w="13970">
            <a:solidFill>
              <a:srgbClr val="898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9043415" y="3154680"/>
            <a:ext cx="2395728" cy="1005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43415" y="3154680"/>
            <a:ext cx="2395728" cy="256032"/>
          </a:xfrm>
          <a:prstGeom prst="rect">
            <a:avLst/>
          </a:prstGeom>
          <a:solidFill>
            <a:srgbClr val="FDECEE"/>
          </a:solidFill>
          <a:ln w="8890">
            <a:solidFill>
              <a:srgbClr val="009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34855" y="3227832"/>
            <a:ext cx="347472" cy="731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80" b="1">
                <a:solidFill>
                  <a:srgbClr val="009944"/>
                </a:solidFill>
                <a:latin typeface="Microsoft YaHei"/>
              </a:rPr>
              <a:t>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18903" y="3218688"/>
            <a:ext cx="1828800" cy="822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【请填写改善后】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89719" y="3557016"/>
            <a:ext cx="2103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8680" y="5285232"/>
            <a:ext cx="10561320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68680" y="5285232"/>
            <a:ext cx="1627632" cy="566928"/>
          </a:xfrm>
          <a:prstGeom prst="rect">
            <a:avLst/>
          </a:prstGeom>
          <a:solidFill>
            <a:srgbClr val="C8102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88136" y="5495544"/>
            <a:ext cx="1170432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【请填写指标】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788920" y="5431536"/>
            <a:ext cx="0" cy="274320"/>
          </a:xfrm>
          <a:prstGeom prst="line">
            <a:avLst/>
          </a:prstGeom>
          <a:ln w="1016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026663" y="5468112"/>
            <a:ext cx="6812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【请填写数据】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366760" y="5431536"/>
            <a:ext cx="0" cy="274320"/>
          </a:xfrm>
          <a:prstGeom prst="line">
            <a:avLst/>
          </a:prstGeom>
          <a:ln w="1016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595360" y="5468112"/>
            <a:ext cx="2514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【请填写证据】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475488"/>
            <a:ext cx="1060704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2600" b="1">
                <a:solidFill>
                  <a:srgbClr val="231815"/>
                </a:solidFill>
                <a:latin typeface="Microsoft YaHei"/>
              </a:defRPr>
            </a:pPr>
            <a:r>
              <a:rPr>
                <a:latin typeface="Microsoft YaHei"/>
              </a:rPr>
              <a:t>圈组介绍：以角色分工、证据责任和活动机制保障 QCC 闭环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024128"/>
            <a:ext cx="841248" cy="3200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225296"/>
            <a:ext cx="9875520" cy="1645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1050" b="0">
                <a:solidFill>
                  <a:srgbClr val="787878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【请填写本页说明：用一句话说明本页要表达的核心结论】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27632"/>
            <a:ext cx="3493008" cy="12801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73152" cy="128016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86968" y="1883664"/>
            <a:ext cx="420624" cy="420624"/>
          </a:xfrm>
          <a:prstGeom prst="ellipse">
            <a:avLst/>
          </a:prstGeom>
          <a:solidFill>
            <a:srgbClr val="C8102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8366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" y="1828800"/>
            <a:ext cx="2441448" cy="1645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1330" b="1">
                <a:solidFill>
                  <a:srgbClr val="C8102E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【请填写指标】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2194560"/>
            <a:ext cx="2468879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019" b="0">
                <a:solidFill>
                  <a:srgbClr val="202020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【请填写数据】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627632"/>
            <a:ext cx="3493008" cy="12801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627632"/>
            <a:ext cx="73152" cy="1280160"/>
          </a:xfrm>
          <a:prstGeom prst="rect">
            <a:avLst/>
          </a:prstGeom>
          <a:solidFill>
            <a:srgbClr val="EB5C01"/>
          </a:solidFill>
          <a:ln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99432" y="1883664"/>
            <a:ext cx="420624" cy="420624"/>
          </a:xfrm>
          <a:prstGeom prst="ellipse">
            <a:avLst/>
          </a:prstGeom>
          <a:solidFill>
            <a:srgbClr val="EB5C01"/>
          </a:solidFill>
          <a:ln w="8890"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188366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【请填写证据】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1828800"/>
            <a:ext cx="2441448" cy="1645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1330" b="1">
                <a:solidFill>
                  <a:srgbClr val="EB5C01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【请填写结论】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194560"/>
            <a:ext cx="2468879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019" b="0">
                <a:solidFill>
                  <a:srgbClr val="202020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【请填写对策】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1627632"/>
            <a:ext cx="3493008" cy="12801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3296" y="1627632"/>
            <a:ext cx="73152" cy="1280160"/>
          </a:xfrm>
          <a:prstGeom prst="rect">
            <a:avLst/>
          </a:prstGeom>
          <a:solidFill>
            <a:srgbClr val="205482"/>
          </a:solidFill>
          <a:ln>
            <a:solidFill>
              <a:srgbClr val="205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11896" y="1883664"/>
            <a:ext cx="420624" cy="420624"/>
          </a:xfrm>
          <a:prstGeom prst="ellipse">
            <a:avLst/>
          </a:prstGeom>
          <a:solidFill>
            <a:srgbClr val="205482"/>
          </a:solidFill>
          <a:ln w="8890">
            <a:solidFill>
              <a:srgbClr val="205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1896" y="188366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5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【请填写验证方式】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24544" y="1828800"/>
            <a:ext cx="2441448" cy="1645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1330" b="1">
                <a:solidFill>
                  <a:srgbClr val="205482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【请填写改善前】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24544" y="2194560"/>
            <a:ext cx="2468879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019" b="0">
                <a:solidFill>
                  <a:srgbClr val="202020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【请填写改善后】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3246120"/>
            <a:ext cx="5029200" cy="1645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1220" b="1">
                <a:solidFill>
                  <a:srgbClr val="231815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3584448"/>
            <a:ext cx="224028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4400" y="3785615"/>
            <a:ext cx="329184" cy="329184"/>
          </a:xfrm>
          <a:prstGeom prst="ellipse">
            <a:avLst/>
          </a:prstGeom>
          <a:solidFill>
            <a:srgbClr val="C8102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785615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【请填写指标】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3749039"/>
            <a:ext cx="1508760" cy="1371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1080" b="1">
                <a:solidFill>
                  <a:srgbClr val="C8102E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【请填写数据】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2" y="4041648"/>
            <a:ext cx="150876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869" b="0">
                <a:solidFill>
                  <a:srgbClr val="202020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【请填写证据】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008376" y="3968496"/>
            <a:ext cx="393192" cy="0"/>
          </a:xfrm>
          <a:prstGeom prst="line">
            <a:avLst/>
          </a:prstGeom>
          <a:ln w="1524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ight Triangle 29"/>
          <p:cNvSpPr/>
          <p:nvPr/>
        </p:nvSpPr>
        <p:spPr>
          <a:xfrm>
            <a:off x="3355848" y="3922776"/>
            <a:ext cx="91440" cy="91440"/>
          </a:xfrm>
          <a:prstGeom prst="rtTriangle">
            <a:avLst/>
          </a:prstGeom>
          <a:solidFill>
            <a:srgbClr val="A0A0A0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511296" y="3584448"/>
            <a:ext cx="224028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675887" y="3785615"/>
            <a:ext cx="329184" cy="329184"/>
          </a:xfrm>
          <a:prstGeom prst="ellipse">
            <a:avLst/>
          </a:prstGeom>
          <a:solidFill>
            <a:srgbClr val="EB5C01"/>
          </a:solidFill>
          <a:ln w="8890"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75887" y="3785615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【请填写结论】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3749039"/>
            <a:ext cx="1508760" cy="1371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1080" b="1">
                <a:solidFill>
                  <a:srgbClr val="EB5C01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【请填写对策】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4041648"/>
            <a:ext cx="150876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869" b="0">
                <a:solidFill>
                  <a:srgbClr val="202020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【请填写验证方式】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769864" y="3968496"/>
            <a:ext cx="393192" cy="0"/>
          </a:xfrm>
          <a:prstGeom prst="line">
            <a:avLst/>
          </a:prstGeom>
          <a:ln w="1524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ight Triangle 36"/>
          <p:cNvSpPr/>
          <p:nvPr/>
        </p:nvSpPr>
        <p:spPr>
          <a:xfrm>
            <a:off x="6117336" y="3922776"/>
            <a:ext cx="91440" cy="91440"/>
          </a:xfrm>
          <a:prstGeom prst="rtTriangle">
            <a:avLst/>
          </a:prstGeom>
          <a:solidFill>
            <a:srgbClr val="A0A0A0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72784" y="3584448"/>
            <a:ext cx="224028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37376" y="3785615"/>
            <a:ext cx="329184" cy="329184"/>
          </a:xfrm>
          <a:prstGeom prst="ellipse">
            <a:avLst/>
          </a:prstGeom>
          <a:solidFill>
            <a:srgbClr val="205482"/>
          </a:solidFill>
          <a:ln w="8890">
            <a:solidFill>
              <a:srgbClr val="205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37376" y="3785615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【请填写改善前】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76288" y="3749039"/>
            <a:ext cx="1508760" cy="1371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1080" b="1">
                <a:solidFill>
                  <a:srgbClr val="205482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【请填写改善后】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4041648"/>
            <a:ext cx="150876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869" b="0">
                <a:solidFill>
                  <a:srgbClr val="202020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【请填写内容】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531352" y="3968496"/>
            <a:ext cx="393192" cy="0"/>
          </a:xfrm>
          <a:prstGeom prst="line">
            <a:avLst/>
          </a:prstGeom>
          <a:ln w="1524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ight Triangle 43"/>
          <p:cNvSpPr/>
          <p:nvPr/>
        </p:nvSpPr>
        <p:spPr>
          <a:xfrm>
            <a:off x="8878824" y="3922776"/>
            <a:ext cx="91440" cy="91440"/>
          </a:xfrm>
          <a:prstGeom prst="rtTriangle">
            <a:avLst/>
          </a:prstGeom>
          <a:solidFill>
            <a:srgbClr val="A0A0A0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034272" y="3584448"/>
            <a:ext cx="2240280" cy="777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198864" y="3785615"/>
            <a:ext cx="329184" cy="329184"/>
          </a:xfrm>
          <a:prstGeom prst="ellipse">
            <a:avLst/>
          </a:prstGeom>
          <a:solidFill>
            <a:srgbClr val="009444"/>
          </a:solidFill>
          <a:ln w="8890">
            <a:solidFill>
              <a:srgbClr val="009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98864" y="3785615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37776" y="3749039"/>
            <a:ext cx="1508760" cy="1371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1080" b="1">
                <a:solidFill>
                  <a:srgbClr val="009444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【请填写指标】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37776" y="4041648"/>
            <a:ext cx="150876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869" b="0">
                <a:solidFill>
                  <a:srgbClr val="202020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【请填写数据】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9808" y="4754880"/>
            <a:ext cx="2423160" cy="8229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" y="4882896"/>
            <a:ext cx="2203704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1900" b="1">
                <a:solidFill>
                  <a:srgbClr val="C8102E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【请填写证据】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" y="5184648"/>
            <a:ext cx="2203704" cy="1371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1019" b="1">
                <a:solidFill>
                  <a:srgbClr val="231815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【请填写结论】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" y="5413248"/>
            <a:ext cx="2203704" cy="1188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860" b="0">
                <a:solidFill>
                  <a:srgbClr val="787878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【请填写对策】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364992" y="4754880"/>
            <a:ext cx="2423160" cy="8229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74720" y="4882896"/>
            <a:ext cx="2203704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1900" b="1">
                <a:solidFill>
                  <a:srgbClr val="205482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【请填写验证方式】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74720" y="5184648"/>
            <a:ext cx="2203704" cy="1371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1019" b="1">
                <a:solidFill>
                  <a:srgbClr val="231815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【请填写改善前】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74720" y="5413248"/>
            <a:ext cx="2203704" cy="1188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860" b="0">
                <a:solidFill>
                  <a:srgbClr val="787878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【请填写改善后】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980176" y="4754880"/>
            <a:ext cx="2423160" cy="8229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089904" y="4882896"/>
            <a:ext cx="2203704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1900" b="1">
                <a:solidFill>
                  <a:srgbClr val="009444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89904" y="5184648"/>
            <a:ext cx="2203704" cy="1371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1019" b="1">
                <a:solidFill>
                  <a:srgbClr val="231815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【请填写指标】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89904" y="5413248"/>
            <a:ext cx="2203704" cy="1188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860" b="0">
                <a:solidFill>
                  <a:srgbClr val="787878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【请填写数据】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595360" y="4754880"/>
            <a:ext cx="2423160" cy="8229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705088" y="4882896"/>
            <a:ext cx="2203704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1900" b="1">
                <a:solidFill>
                  <a:srgbClr val="EB5C01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【请填写证据】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05088" y="5184648"/>
            <a:ext cx="2203704" cy="1371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1019" b="1">
                <a:solidFill>
                  <a:srgbClr val="231815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【请填写结论】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705088" y="5413248"/>
            <a:ext cx="2203704" cy="1188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860" b="0">
                <a:solidFill>
                  <a:srgbClr val="787878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【请填写对策】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68096" y="5797296"/>
            <a:ext cx="10643616" cy="4389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68096" y="5797296"/>
            <a:ext cx="1572768" cy="438912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8408" y="5934456"/>
            <a:ext cx="1078992" cy="914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1140" b="1">
                <a:solidFill>
                  <a:srgbClr val="FFFFFF"/>
                </a:solidFill>
                <a:latin typeface="Microsoft YaHei"/>
              </a:defRPr>
            </a:pPr>
            <a:r>
              <a:t>活动机制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2578608" y="5879592"/>
            <a:ext cx="0" cy="27432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2926080" y="5925312"/>
            <a:ext cx="8046720" cy="1097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990" b="0">
                <a:solidFill>
                  <a:srgbClr val="202020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【请填写验证方式】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475488"/>
            <a:ext cx="1078992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2550" b="1">
                <a:solidFill>
                  <a:srgbClr val="231815"/>
                </a:solidFill>
                <a:latin typeface="Microsoft YaHei"/>
              </a:defRPr>
            </a:pPr>
            <a:r>
              <a:rPr>
                <a:latin typeface="Microsoft YaHei"/>
              </a:rPr>
              <a:t>选题理由：以矩阵评分选择最有改善价值的课题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033271"/>
            <a:ext cx="859536" cy="3200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225296"/>
            <a:ext cx="9966960" cy="1645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1040" b="0">
                <a:solidFill>
                  <a:srgbClr val="787878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【请填写本页说明：用一句话说明本页要表达的核心结论】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591056"/>
            <a:ext cx="1920240" cy="1645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1200" b="1">
                <a:solidFill>
                  <a:srgbClr val="231815"/>
                </a:solidFill>
                <a:latin typeface="Microsoft YaHei"/>
              </a:defRPr>
            </a:pPr>
            <a:r>
              <a:t>候选课题评价矩阵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16352" y="1609344"/>
            <a:ext cx="640080" cy="1097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880" b="0">
                <a:solidFill>
                  <a:srgbClr val="787878"/>
                </a:solidFill>
                <a:latin typeface="Microsoft YaHei"/>
              </a:defRPr>
            </a:pPr>
            <a:r>
              <a:t>五维评分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1600200"/>
            <a:ext cx="457200" cy="914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680" b="0">
                <a:solidFill>
                  <a:srgbClr val="787878"/>
                </a:solidFill>
                <a:latin typeface="Microsoft YaHei"/>
              </a:defRPr>
            </a:pPr>
            <a:r>
              <a:t>重要性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70248" y="1600200"/>
            <a:ext cx="457200" cy="914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680" b="0">
                <a:solidFill>
                  <a:srgbClr val="787878"/>
                </a:solidFill>
                <a:latin typeface="Microsoft YaHei"/>
              </a:defRPr>
            </a:pPr>
            <a:r>
              <a:t>紧迫性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28616" y="1600200"/>
            <a:ext cx="457200" cy="914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680" b="0">
                <a:solidFill>
                  <a:srgbClr val="787878"/>
                </a:solidFill>
                <a:latin typeface="Microsoft YaHei"/>
              </a:defRPr>
            </a:pPr>
            <a:r>
              <a:t>可行性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6984" y="1600200"/>
            <a:ext cx="457200" cy="914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680" b="0">
                <a:solidFill>
                  <a:srgbClr val="787878"/>
                </a:solidFill>
                <a:latin typeface="Microsoft YaHei"/>
              </a:defRPr>
            </a:pPr>
            <a:r>
              <a:t>数据性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1600200"/>
            <a:ext cx="457200" cy="914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680" b="0">
                <a:solidFill>
                  <a:srgbClr val="787878"/>
                </a:solidFill>
                <a:latin typeface="Microsoft YaHei"/>
              </a:defRPr>
            </a:pPr>
            <a:r>
              <a:t>推广性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1938528"/>
            <a:ext cx="7973568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8" y="1938528"/>
            <a:ext cx="603504" cy="749808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212848"/>
            <a:ext cx="603504" cy="914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185416"/>
            <a:ext cx="1965960" cy="1463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1060" b="1">
                <a:solidFill>
                  <a:srgbClr val="202020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【请填写指标】</a:t>
            </a:r>
          </a:p>
        </p:txBody>
      </p:sp>
      <p:sp>
        <p:nvSpPr>
          <p:cNvPr id="16" name="Oval 15"/>
          <p:cNvSpPr/>
          <p:nvPr/>
        </p:nvSpPr>
        <p:spPr>
          <a:xfrm>
            <a:off x="3749039" y="2167128"/>
            <a:ext cx="310896" cy="310896"/>
          </a:xfrm>
          <a:prstGeom prst="ellipse">
            <a:avLst/>
          </a:prstGeom>
          <a:solidFill>
            <a:srgbClr val="C8102E"/>
          </a:solidFill>
          <a:ln w="762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39" y="216712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7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8" name="Oval 17"/>
          <p:cNvSpPr/>
          <p:nvPr/>
        </p:nvSpPr>
        <p:spPr>
          <a:xfrm>
            <a:off x="4407408" y="2167128"/>
            <a:ext cx="310896" cy="310896"/>
          </a:xfrm>
          <a:prstGeom prst="ellipse">
            <a:avLst/>
          </a:prstGeom>
          <a:solidFill>
            <a:srgbClr val="C8102E"/>
          </a:solidFill>
          <a:ln w="762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07408" y="216712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7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0" name="Oval 19"/>
          <p:cNvSpPr/>
          <p:nvPr/>
        </p:nvSpPr>
        <p:spPr>
          <a:xfrm>
            <a:off x="5065776" y="2167128"/>
            <a:ext cx="310896" cy="310896"/>
          </a:xfrm>
          <a:prstGeom prst="ellipse">
            <a:avLst/>
          </a:prstGeom>
          <a:solidFill>
            <a:srgbClr val="EB5C01"/>
          </a:solidFill>
          <a:ln w="7620"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65776" y="216712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7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【请填写数据】</a:t>
            </a:r>
          </a:p>
        </p:txBody>
      </p:sp>
      <p:sp>
        <p:nvSpPr>
          <p:cNvPr id="22" name="Oval 21"/>
          <p:cNvSpPr/>
          <p:nvPr/>
        </p:nvSpPr>
        <p:spPr>
          <a:xfrm>
            <a:off x="5724144" y="2167128"/>
            <a:ext cx="310896" cy="310896"/>
          </a:xfrm>
          <a:prstGeom prst="ellipse">
            <a:avLst/>
          </a:prstGeom>
          <a:solidFill>
            <a:srgbClr val="C8102E"/>
          </a:solidFill>
          <a:ln w="762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24144" y="216712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7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4" name="Oval 23"/>
          <p:cNvSpPr/>
          <p:nvPr/>
        </p:nvSpPr>
        <p:spPr>
          <a:xfrm>
            <a:off x="6382512" y="2167128"/>
            <a:ext cx="310896" cy="310896"/>
          </a:xfrm>
          <a:prstGeom prst="ellipse">
            <a:avLst/>
          </a:prstGeom>
          <a:solidFill>
            <a:srgbClr val="C8102E"/>
          </a:solidFill>
          <a:ln w="762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216712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7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71231" y="2121408"/>
            <a:ext cx="566928" cy="1645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1650" b="1">
                <a:solidFill>
                  <a:srgbClr val="C8102E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【请填写证据】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98664" y="2441448"/>
            <a:ext cx="502920" cy="6400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690" b="0">
                <a:solidFill>
                  <a:srgbClr val="787878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【请填写结论】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2798064"/>
            <a:ext cx="7973568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808" y="2798064"/>
            <a:ext cx="603504" cy="749808"/>
          </a:xfrm>
          <a:prstGeom prst="rect">
            <a:avLst/>
          </a:prstGeom>
          <a:solidFill>
            <a:srgbClr val="EB5C01"/>
          </a:solidFill>
          <a:ln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3072384"/>
            <a:ext cx="603504" cy="914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【请填写对策】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17904" y="3044952"/>
            <a:ext cx="1965960" cy="1463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1060" b="1">
                <a:solidFill>
                  <a:srgbClr val="202020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【请填写验证方式】</a:t>
            </a:r>
          </a:p>
        </p:txBody>
      </p:sp>
      <p:sp>
        <p:nvSpPr>
          <p:cNvPr id="32" name="Oval 31"/>
          <p:cNvSpPr/>
          <p:nvPr/>
        </p:nvSpPr>
        <p:spPr>
          <a:xfrm>
            <a:off x="3749039" y="3026664"/>
            <a:ext cx="310896" cy="310896"/>
          </a:xfrm>
          <a:prstGeom prst="ellipse">
            <a:avLst/>
          </a:prstGeom>
          <a:solidFill>
            <a:srgbClr val="EB5C01"/>
          </a:solidFill>
          <a:ln w="7620"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49039" y="30266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7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【请填写改善前】</a:t>
            </a:r>
          </a:p>
        </p:txBody>
      </p:sp>
      <p:sp>
        <p:nvSpPr>
          <p:cNvPr id="34" name="Oval 33"/>
          <p:cNvSpPr/>
          <p:nvPr/>
        </p:nvSpPr>
        <p:spPr>
          <a:xfrm>
            <a:off x="4407408" y="3026664"/>
            <a:ext cx="310896" cy="310896"/>
          </a:xfrm>
          <a:prstGeom prst="ellipse">
            <a:avLst/>
          </a:prstGeom>
          <a:solidFill>
            <a:srgbClr val="EB5C01"/>
          </a:solidFill>
          <a:ln w="7620"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07408" y="30266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7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【请填写改善后】</a:t>
            </a:r>
          </a:p>
        </p:txBody>
      </p:sp>
      <p:sp>
        <p:nvSpPr>
          <p:cNvPr id="36" name="Oval 35"/>
          <p:cNvSpPr/>
          <p:nvPr/>
        </p:nvSpPr>
        <p:spPr>
          <a:xfrm>
            <a:off x="5065776" y="3026664"/>
            <a:ext cx="310896" cy="310896"/>
          </a:xfrm>
          <a:prstGeom prst="ellipse">
            <a:avLst/>
          </a:prstGeom>
          <a:solidFill>
            <a:srgbClr val="EB5C01"/>
          </a:solidFill>
          <a:ln w="7620"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65776" y="30266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7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38" name="Oval 37"/>
          <p:cNvSpPr/>
          <p:nvPr/>
        </p:nvSpPr>
        <p:spPr>
          <a:xfrm>
            <a:off x="5724144" y="3026664"/>
            <a:ext cx="310896" cy="310896"/>
          </a:xfrm>
          <a:prstGeom prst="ellipse">
            <a:avLst/>
          </a:prstGeom>
          <a:solidFill>
            <a:srgbClr val="EB5C01"/>
          </a:solidFill>
          <a:ln w="7620"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24144" y="30266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7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【请填写指标】</a:t>
            </a:r>
          </a:p>
        </p:txBody>
      </p:sp>
      <p:sp>
        <p:nvSpPr>
          <p:cNvPr id="40" name="Oval 39"/>
          <p:cNvSpPr/>
          <p:nvPr/>
        </p:nvSpPr>
        <p:spPr>
          <a:xfrm>
            <a:off x="6382512" y="3026664"/>
            <a:ext cx="310896" cy="310896"/>
          </a:xfrm>
          <a:prstGeom prst="ellipse">
            <a:avLst/>
          </a:prstGeom>
          <a:solidFill>
            <a:srgbClr val="EB5C01"/>
          </a:solidFill>
          <a:ln w="7620"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82512" y="302666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7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【请填写数据】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71231" y="2980944"/>
            <a:ext cx="566928" cy="1645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1650" b="1">
                <a:solidFill>
                  <a:srgbClr val="EB5C01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【请填写证据】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98664" y="3300984"/>
            <a:ext cx="502920" cy="6400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690" b="0">
                <a:solidFill>
                  <a:srgbClr val="787878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【请填写结论】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9808" y="3657600"/>
            <a:ext cx="7973568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49808" y="3657600"/>
            <a:ext cx="603504" cy="749808"/>
          </a:xfrm>
          <a:prstGeom prst="rect">
            <a:avLst/>
          </a:prstGeom>
          <a:solidFill>
            <a:srgbClr val="205482"/>
          </a:solidFill>
          <a:ln>
            <a:solidFill>
              <a:srgbClr val="205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9808" y="3931920"/>
            <a:ext cx="603504" cy="914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【请填写对策】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17904" y="3904487"/>
            <a:ext cx="1965960" cy="1463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1060" b="1">
                <a:solidFill>
                  <a:srgbClr val="202020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【请填写验证方式】</a:t>
            </a:r>
          </a:p>
        </p:txBody>
      </p:sp>
      <p:sp>
        <p:nvSpPr>
          <p:cNvPr id="48" name="Oval 47"/>
          <p:cNvSpPr/>
          <p:nvPr/>
        </p:nvSpPr>
        <p:spPr>
          <a:xfrm>
            <a:off x="3749039" y="3886200"/>
            <a:ext cx="310896" cy="310896"/>
          </a:xfrm>
          <a:prstGeom prst="ellipse">
            <a:avLst/>
          </a:prstGeom>
          <a:solidFill>
            <a:srgbClr val="EB5C01"/>
          </a:solidFill>
          <a:ln w="7620"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49039" y="388620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7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【请填写改善前】</a:t>
            </a:r>
          </a:p>
        </p:txBody>
      </p:sp>
      <p:sp>
        <p:nvSpPr>
          <p:cNvPr id="50" name="Oval 49"/>
          <p:cNvSpPr/>
          <p:nvPr/>
        </p:nvSpPr>
        <p:spPr>
          <a:xfrm>
            <a:off x="4407408" y="3886200"/>
            <a:ext cx="310896" cy="310896"/>
          </a:xfrm>
          <a:prstGeom prst="ellipse">
            <a:avLst/>
          </a:prstGeom>
          <a:solidFill>
            <a:srgbClr val="EB5C01"/>
          </a:solidFill>
          <a:ln w="7620"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07408" y="388620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7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【请填写改善后】</a:t>
            </a:r>
          </a:p>
        </p:txBody>
      </p:sp>
      <p:sp>
        <p:nvSpPr>
          <p:cNvPr id="52" name="Oval 51"/>
          <p:cNvSpPr/>
          <p:nvPr/>
        </p:nvSpPr>
        <p:spPr>
          <a:xfrm>
            <a:off x="5065776" y="3886200"/>
            <a:ext cx="310896" cy="310896"/>
          </a:xfrm>
          <a:prstGeom prst="ellipse">
            <a:avLst/>
          </a:prstGeom>
          <a:solidFill>
            <a:srgbClr val="EB5C01"/>
          </a:solidFill>
          <a:ln w="7620"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65776" y="388620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7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54" name="Oval 53"/>
          <p:cNvSpPr/>
          <p:nvPr/>
        </p:nvSpPr>
        <p:spPr>
          <a:xfrm>
            <a:off x="5724144" y="3886200"/>
            <a:ext cx="310896" cy="310896"/>
          </a:xfrm>
          <a:prstGeom prst="ellipse">
            <a:avLst/>
          </a:prstGeom>
          <a:solidFill>
            <a:srgbClr val="EB5C01"/>
          </a:solidFill>
          <a:ln w="7620"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24144" y="388620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7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【请填写指标】</a:t>
            </a:r>
          </a:p>
        </p:txBody>
      </p:sp>
      <p:sp>
        <p:nvSpPr>
          <p:cNvPr id="56" name="Oval 55"/>
          <p:cNvSpPr/>
          <p:nvPr/>
        </p:nvSpPr>
        <p:spPr>
          <a:xfrm>
            <a:off x="6382512" y="3886200"/>
            <a:ext cx="310896" cy="310896"/>
          </a:xfrm>
          <a:prstGeom prst="ellipse">
            <a:avLst/>
          </a:prstGeom>
          <a:solidFill>
            <a:srgbClr val="EB5C01"/>
          </a:solidFill>
          <a:ln w="7620"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82512" y="388620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7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71231" y="3840480"/>
            <a:ext cx="566928" cy="1645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1650" b="1">
                <a:solidFill>
                  <a:srgbClr val="205482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【请填写数据】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98664" y="4160520"/>
            <a:ext cx="502920" cy="6400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690" b="0">
                <a:solidFill>
                  <a:srgbClr val="787878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【请填写证据】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979408" y="1755648"/>
            <a:ext cx="2148840" cy="27249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17152" y="1993392"/>
            <a:ext cx="1645920" cy="14630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1180" b="1">
                <a:solidFill>
                  <a:srgbClr val="C8102E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【请填写结论】</a:t>
            </a:r>
          </a:p>
        </p:txBody>
      </p:sp>
      <p:sp>
        <p:nvSpPr>
          <p:cNvPr id="62" name="Oval 61"/>
          <p:cNvSpPr/>
          <p:nvPr/>
        </p:nvSpPr>
        <p:spPr>
          <a:xfrm>
            <a:off x="9619488" y="2432304"/>
            <a:ext cx="676656" cy="676656"/>
          </a:xfrm>
          <a:prstGeom prst="ellipse">
            <a:avLst/>
          </a:prstGeom>
          <a:solidFill>
            <a:srgbClr val="C8102E"/>
          </a:solidFill>
          <a:ln w="762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19488" y="2432304"/>
            <a:ext cx="676656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【请填写对策】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9720" y="3236976"/>
            <a:ext cx="1737360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1000" b="1">
                <a:solidFill>
                  <a:srgbClr val="202020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【请填写验证方式】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62288" y="3840480"/>
            <a:ext cx="17373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830" b="0">
                <a:solidFill>
                  <a:srgbClr val="787878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【请填写改善前】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49808" y="4700016"/>
            <a:ext cx="2231136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49808" y="4700016"/>
            <a:ext cx="54864" cy="658368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32688" y="4882896"/>
            <a:ext cx="658368" cy="1097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1019" b="1">
                <a:solidFill>
                  <a:srgbClr val="C8102E"/>
                </a:solidFill>
                <a:latin typeface="Microsoft YaHei"/>
              </a:defRPr>
            </a:pPr>
            <a:r>
              <a:t>重要性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591056" y="4882896"/>
            <a:ext cx="1170432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800" b="0">
                <a:solidFill>
                  <a:srgbClr val="202020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【请填写改善后】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346703" y="4700016"/>
            <a:ext cx="2231136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346703" y="4700016"/>
            <a:ext cx="54864" cy="658368"/>
          </a:xfrm>
          <a:prstGeom prst="rect">
            <a:avLst/>
          </a:prstGeom>
          <a:solidFill>
            <a:srgbClr val="EB5C01"/>
          </a:solidFill>
          <a:ln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529584" y="4882896"/>
            <a:ext cx="658368" cy="1097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1019" b="1">
                <a:solidFill>
                  <a:srgbClr val="EB5C01"/>
                </a:solidFill>
                <a:latin typeface="Microsoft YaHei"/>
              </a:defRPr>
            </a:pPr>
            <a:r>
              <a:t>紧迫性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87952" y="4882896"/>
            <a:ext cx="1170432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800" b="0">
                <a:solidFill>
                  <a:srgbClr val="202020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943600" y="4700016"/>
            <a:ext cx="2231136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943600" y="4700016"/>
            <a:ext cx="54864" cy="658368"/>
          </a:xfrm>
          <a:prstGeom prst="rect">
            <a:avLst/>
          </a:prstGeom>
          <a:solidFill>
            <a:srgbClr val="205482"/>
          </a:solidFill>
          <a:ln>
            <a:solidFill>
              <a:srgbClr val="205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26480" y="4882896"/>
            <a:ext cx="658368" cy="1097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1019" b="1">
                <a:solidFill>
                  <a:srgbClr val="205482"/>
                </a:solidFill>
                <a:latin typeface="Microsoft YaHei"/>
              </a:defRPr>
            </a:pPr>
            <a:r>
              <a:t>数据性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84848" y="4882896"/>
            <a:ext cx="1170432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800" b="0">
                <a:solidFill>
                  <a:srgbClr val="202020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【请填写指标】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540496" y="4700016"/>
            <a:ext cx="2231136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540496" y="4700016"/>
            <a:ext cx="54864" cy="658368"/>
          </a:xfrm>
          <a:prstGeom prst="rect">
            <a:avLst/>
          </a:prstGeom>
          <a:solidFill>
            <a:srgbClr val="009444"/>
          </a:solidFill>
          <a:ln>
            <a:solidFill>
              <a:srgbClr val="009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723376" y="4882896"/>
            <a:ext cx="658368" cy="1097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1019" b="1">
                <a:solidFill>
                  <a:srgbClr val="009444"/>
                </a:solidFill>
                <a:latin typeface="Microsoft YaHei"/>
              </a:defRPr>
            </a:pPr>
            <a:r>
              <a:t>推广性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381744" y="4882896"/>
            <a:ext cx="1170432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800" b="0">
                <a:solidFill>
                  <a:srgbClr val="202020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【请填写数据】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68096" y="5797296"/>
            <a:ext cx="10643616" cy="4389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8096" y="5797296"/>
            <a:ext cx="1572768" cy="438912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78408" y="5934456"/>
            <a:ext cx="1078992" cy="914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1140" b="1">
                <a:solidFill>
                  <a:srgbClr val="FFFFFF"/>
                </a:solidFill>
                <a:latin typeface="Microsoft YaHei"/>
              </a:defRPr>
            </a:pPr>
            <a:r>
              <a:t>选择结论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2578608" y="5879592"/>
            <a:ext cx="0" cy="27432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2926080" y="5925312"/>
            <a:ext cx="8046720" cy="1097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990" b="0">
                <a:solidFill>
                  <a:srgbClr val="202020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【请填写证据】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60704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现状调查：把运行问题转化为可观察、可对比的现象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96112" y="1060704"/>
            <a:ext cx="868680" cy="0"/>
          </a:xfrm>
          <a:prstGeom prst="line">
            <a:avLst/>
          </a:prstGeom>
          <a:ln w="254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96112" y="1170432"/>
            <a:ext cx="10058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【请填写本页说明：用一句话说明本页要表达的核心结论】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6403" y="1659636"/>
            <a:ext cx="4617720" cy="1143000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27632"/>
            <a:ext cx="461772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627632"/>
            <a:ext cx="73152" cy="1143000"/>
          </a:xfrm>
          <a:prstGeom prst="rect">
            <a:avLst/>
          </a:prstGeom>
          <a:solidFill>
            <a:srgbClr val="C8102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1773936"/>
            <a:ext cx="4215383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029968"/>
            <a:ext cx="4215383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【请填写指标】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295144"/>
            <a:ext cx="4215383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【请填写数据】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523744"/>
            <a:ext cx="4215383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【请填写证据】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8484" y="1659636"/>
            <a:ext cx="4617720" cy="1143000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26480" y="1627632"/>
            <a:ext cx="461772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627632"/>
            <a:ext cx="73152" cy="1143000"/>
          </a:xfrm>
          <a:prstGeom prst="rect">
            <a:avLst/>
          </a:prstGeom>
          <a:solidFill>
            <a:srgbClr val="EB5C01"/>
          </a:solidFill>
          <a:ln w="8890"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73936"/>
            <a:ext cx="4215383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【请填写结论】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2029968"/>
            <a:ext cx="4215383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【请填写对策】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295144"/>
            <a:ext cx="4215383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【请填写验证方式】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2523744"/>
            <a:ext cx="4215383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【请填写改善前】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6403" y="3076956"/>
            <a:ext cx="4617720" cy="1143000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" y="3044952"/>
            <a:ext cx="461772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3044952"/>
            <a:ext cx="73152" cy="1143000"/>
          </a:xfrm>
          <a:prstGeom prst="rect">
            <a:avLst/>
          </a:prstGeom>
          <a:solidFill>
            <a:srgbClr val="1F4E79"/>
          </a:solidFill>
          <a:ln w="889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3191256"/>
            <a:ext cx="4215383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【请填写改善后】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3447288"/>
            <a:ext cx="4215383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3712464"/>
            <a:ext cx="4215383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【请填写指标】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3941064"/>
            <a:ext cx="4215383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【请填写数据】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58484" y="3076956"/>
            <a:ext cx="4617720" cy="1143000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26480" y="3044952"/>
            <a:ext cx="461772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80" y="3044952"/>
            <a:ext cx="73152" cy="1143000"/>
          </a:xfrm>
          <a:prstGeom prst="rect">
            <a:avLst/>
          </a:prstGeom>
          <a:solidFill>
            <a:srgbClr val="009944"/>
          </a:solidFill>
          <a:ln w="8890">
            <a:solidFill>
              <a:srgbClr val="009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7648" y="3191256"/>
            <a:ext cx="4215383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【请填写证据】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3447288"/>
            <a:ext cx="4215383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【请填写结论】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3712464"/>
            <a:ext cx="4215383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【请填写对策】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3941064"/>
            <a:ext cx="4215383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【请填写验证方式】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5257800"/>
            <a:ext cx="10561320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68680" y="5257800"/>
            <a:ext cx="1627632" cy="566928"/>
          </a:xfrm>
          <a:prstGeom prst="rect">
            <a:avLst/>
          </a:prstGeom>
          <a:solidFill>
            <a:srgbClr val="C8102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88136" y="5468112"/>
            <a:ext cx="1170432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【请填写改善前】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788920" y="5404104"/>
            <a:ext cx="0" cy="274320"/>
          </a:xfrm>
          <a:prstGeom prst="line">
            <a:avLst/>
          </a:prstGeom>
          <a:ln w="1016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026663" y="5440680"/>
            <a:ext cx="81381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【请填写改善后】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475488"/>
            <a:ext cx="1060704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2600" b="1">
                <a:solidFill>
                  <a:srgbClr val="231815"/>
                </a:solidFill>
                <a:latin typeface="Microsoft YaHei"/>
              </a:defRPr>
            </a:pPr>
            <a:r>
              <a:rPr>
                <a:latin typeface="Microsoft YaHei"/>
              </a:rPr>
              <a:t>目标设定：用指标组合约束改善边界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024128"/>
            <a:ext cx="841248" cy="3200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225296"/>
            <a:ext cx="9875520" cy="1645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1050" b="0">
                <a:solidFill>
                  <a:srgbClr val="787878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【请填写本页说明：用一句话说明本页要表达的核心结论】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" y="1847088"/>
            <a:ext cx="2505456" cy="29260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00784" y="2212848"/>
            <a:ext cx="640080" cy="640080"/>
          </a:xfrm>
          <a:prstGeom prst="ellipse">
            <a:avLst/>
          </a:prstGeom>
          <a:solidFill>
            <a:srgbClr val="FAEAEE"/>
          </a:solidFill>
          <a:ln>
            <a:solidFill>
              <a:srgbClr val="FA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56231" y="2340864"/>
            <a:ext cx="329184" cy="12801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2000" b="1">
                <a:solidFill>
                  <a:srgbClr val="C8102E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3035808"/>
            <a:ext cx="2231136" cy="4114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3000" b="1">
                <a:solidFill>
                  <a:srgbClr val="C8102E"/>
                </a:solidFill>
                <a:latin typeface="Microsoft YaHei"/>
              </a:defRPr>
            </a:pPr>
            <a:r>
              <a:t>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92807" y="3621024"/>
            <a:ext cx="256033" cy="0"/>
          </a:xfrm>
          <a:prstGeom prst="line">
            <a:avLst/>
          </a:prstGeom>
          <a:ln w="1524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32688" y="3794760"/>
            <a:ext cx="2176272" cy="1828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1300" b="1">
                <a:solidFill>
                  <a:srgbClr val="231815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【请填写指标】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4114800"/>
            <a:ext cx="2139696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1030" b="0">
                <a:solidFill>
                  <a:srgbClr val="787878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【请填写数据】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2152" y="1847088"/>
            <a:ext cx="2505456" cy="29260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4840" y="2212848"/>
            <a:ext cx="640080" cy="640080"/>
          </a:xfrm>
          <a:prstGeom prst="ellipse">
            <a:avLst/>
          </a:prstGeom>
          <a:solidFill>
            <a:srgbClr val="E8F0F8"/>
          </a:solidFill>
          <a:ln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340864"/>
            <a:ext cx="329184" cy="12801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2000" b="1">
                <a:solidFill>
                  <a:srgbClr val="205482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【请填写证据】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3035808"/>
            <a:ext cx="2231136" cy="4114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2700" b="1">
                <a:solidFill>
                  <a:srgbClr val="205482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【请填写结论】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26864" y="3621024"/>
            <a:ext cx="256032" cy="0"/>
          </a:xfrm>
          <a:prstGeom prst="line">
            <a:avLst/>
          </a:prstGeom>
          <a:ln w="1524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666744" y="3794760"/>
            <a:ext cx="2176272" cy="1828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1300" b="1">
                <a:solidFill>
                  <a:srgbClr val="231815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【请填写对策】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5032" y="4114800"/>
            <a:ext cx="2139696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1030" b="0">
                <a:solidFill>
                  <a:srgbClr val="787878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【请填写验证方式】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847088"/>
            <a:ext cx="2505456" cy="29260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68896" y="2212848"/>
            <a:ext cx="640080" cy="640080"/>
          </a:xfrm>
          <a:prstGeom prst="ellipse">
            <a:avLst/>
          </a:prstGeom>
          <a:solidFill>
            <a:srgbClr val="FAEAEE"/>
          </a:solidFill>
          <a:ln>
            <a:solidFill>
              <a:srgbClr val="FA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24344" y="2340864"/>
            <a:ext cx="329184" cy="12801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2000" b="1">
                <a:solidFill>
                  <a:srgbClr val="C8102E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【请填写改善前】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3035808"/>
            <a:ext cx="2231136" cy="4114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3000" b="1">
                <a:solidFill>
                  <a:srgbClr val="C8102E"/>
                </a:solidFill>
                <a:latin typeface="Microsoft YaHei"/>
              </a:defRPr>
            </a:pPr>
            <a:r>
              <a:t>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60920" y="3621024"/>
            <a:ext cx="256032" cy="0"/>
          </a:xfrm>
          <a:prstGeom prst="line">
            <a:avLst/>
          </a:prstGeom>
          <a:ln w="1524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0" y="3794760"/>
            <a:ext cx="2176272" cy="1828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1300" b="1">
                <a:solidFill>
                  <a:srgbClr val="231815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【请填写改善后】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114800"/>
            <a:ext cx="2139696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1030" b="0">
                <a:solidFill>
                  <a:srgbClr val="787878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70264" y="1847088"/>
            <a:ext cx="2505456" cy="29260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02952" y="2212848"/>
            <a:ext cx="640080" cy="640080"/>
          </a:xfrm>
          <a:prstGeom prst="ellipse">
            <a:avLst/>
          </a:prstGeom>
          <a:solidFill>
            <a:srgbClr val="FDECE2"/>
          </a:solidFill>
          <a:ln>
            <a:solidFill>
              <a:srgbClr val="FDE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0" y="2340864"/>
            <a:ext cx="329184" cy="12801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2000" b="1">
                <a:solidFill>
                  <a:srgbClr val="EB5C01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【请填写指标】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7424" y="3035808"/>
            <a:ext cx="2231136" cy="4114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2700" b="1">
                <a:solidFill>
                  <a:srgbClr val="EB5C01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【请填写数据】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094976" y="3621024"/>
            <a:ext cx="256032" cy="0"/>
          </a:xfrm>
          <a:prstGeom prst="line">
            <a:avLst/>
          </a:prstGeom>
          <a:ln w="1524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134856" y="3794760"/>
            <a:ext cx="2176272" cy="1828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1300" b="1">
                <a:solidFill>
                  <a:srgbClr val="231815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【请填写证据】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53144" y="4114800"/>
            <a:ext cx="2139696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1030" b="0">
                <a:solidFill>
                  <a:srgbClr val="787878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【请填写结论】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8096" y="5230368"/>
            <a:ext cx="10643616" cy="7589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68096" y="5230368"/>
            <a:ext cx="1965960" cy="758952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Triangle 34"/>
          <p:cNvSpPr/>
          <p:nvPr/>
        </p:nvSpPr>
        <p:spPr>
          <a:xfrm>
            <a:off x="2542032" y="5230368"/>
            <a:ext cx="347472" cy="758952"/>
          </a:xfrm>
          <a:prstGeom prst="rtTriangle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2" y="5468112"/>
            <a:ext cx="1417320" cy="1828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【请填写对策】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17520" y="5449824"/>
            <a:ext cx="7909560" cy="21945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1120" b="0">
                <a:solidFill>
                  <a:srgbClr val="202020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【请填写验证方式】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60704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价值闭环：把问题、目标、对策和效果放到同一张业务地图中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96112" y="1060704"/>
            <a:ext cx="868680" cy="0"/>
          </a:xfrm>
          <a:prstGeom prst="line">
            <a:avLst/>
          </a:prstGeom>
          <a:ln w="254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96112" y="1170432"/>
            <a:ext cx="10058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【请填写本页说明：用一句话说明本页要表达的核心结论】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536192"/>
            <a:ext cx="10012680" cy="475488"/>
          </a:xfrm>
          <a:prstGeom prst="rect">
            <a:avLst/>
          </a:prstGeom>
          <a:solidFill>
            <a:srgbClr val="FDECE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55064"/>
            <a:ext cx="1828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39" y="1655064"/>
            <a:ext cx="269747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【请填写指标】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88920" y="1609344"/>
            <a:ext cx="0" cy="329184"/>
          </a:xfrm>
          <a:prstGeom prst="line">
            <a:avLst/>
          </a:prstGeom>
          <a:ln w="101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23559" y="1655064"/>
            <a:ext cx="224027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【请填写数据】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77840" y="1609344"/>
            <a:ext cx="0" cy="329184"/>
          </a:xfrm>
          <a:prstGeom prst="line">
            <a:avLst/>
          </a:prstGeom>
          <a:ln w="101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955279" y="1655064"/>
            <a:ext cx="2880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【请填写证据】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09559" y="1609344"/>
            <a:ext cx="0" cy="329184"/>
          </a:xfrm>
          <a:prstGeom prst="line">
            <a:avLst/>
          </a:prstGeom>
          <a:ln w="101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68680" y="2011680"/>
            <a:ext cx="1001268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" y="2130552"/>
            <a:ext cx="18105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【请填写结论】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43784" y="2130552"/>
            <a:ext cx="2679191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【请填写对策】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88920" y="2084832"/>
            <a:ext cx="0" cy="329184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632703" y="2130552"/>
            <a:ext cx="2221991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30" b="0">
                <a:solidFill>
                  <a:srgbClr val="231815"/>
                </a:solidFill>
                <a:latin typeface="Microsoft YaHei"/>
              </a:rPr>
              <a:t>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577840" y="2084832"/>
            <a:ext cx="0" cy="329184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964423" y="2130552"/>
            <a:ext cx="28620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30" b="1">
                <a:solidFill>
                  <a:srgbClr val="C8102E"/>
                </a:solidFill>
                <a:latin typeface="Microsoft YaHei"/>
              </a:rPr>
              <a:t>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09559" y="2084832"/>
            <a:ext cx="0" cy="329184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868680" y="2487168"/>
            <a:ext cx="10012680" cy="475488"/>
          </a:xfrm>
          <a:prstGeom prst="rect">
            <a:avLst/>
          </a:prstGeom>
          <a:solidFill>
            <a:srgbClr val="F7F7F7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" y="2606040"/>
            <a:ext cx="18105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【请填写验证方式】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43784" y="2606040"/>
            <a:ext cx="2679191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【请填写改善前】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88920" y="2560320"/>
            <a:ext cx="0" cy="329184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32703" y="2606040"/>
            <a:ext cx="2221991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【请填写改善后】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577840" y="2560320"/>
            <a:ext cx="0" cy="329184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964423" y="2606040"/>
            <a:ext cx="28620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【请填写内容】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909559" y="2560320"/>
            <a:ext cx="0" cy="329184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868680" y="2962656"/>
            <a:ext cx="1001268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" y="3081528"/>
            <a:ext cx="18105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【请填写指标】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43784" y="3081528"/>
            <a:ext cx="2679191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【请填写数据】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788920" y="3035808"/>
            <a:ext cx="0" cy="329184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632703" y="3081528"/>
            <a:ext cx="2221991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30" b="0">
                <a:solidFill>
                  <a:srgbClr val="231815"/>
                </a:solidFill>
                <a:latin typeface="Microsoft YaHei"/>
              </a:rPr>
              <a:t>0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577840" y="3035808"/>
            <a:ext cx="0" cy="329184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964423" y="3081528"/>
            <a:ext cx="28620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【请填写证据】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909559" y="3035808"/>
            <a:ext cx="0" cy="329184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868680" y="3438144"/>
            <a:ext cx="10012680" cy="475488"/>
          </a:xfrm>
          <a:prstGeom prst="rect">
            <a:avLst/>
          </a:prstGeom>
          <a:solidFill>
            <a:srgbClr val="F7F7F7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3544" y="3557016"/>
            <a:ext cx="18105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【请填写结论】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43784" y="3557016"/>
            <a:ext cx="2679191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【请填写对策】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788920" y="3511296"/>
            <a:ext cx="0" cy="329184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632703" y="3557016"/>
            <a:ext cx="2221991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【请填写验证方式】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577840" y="3511296"/>
            <a:ext cx="0" cy="329184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964423" y="3557016"/>
            <a:ext cx="28620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【请填写改善前】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909559" y="3511296"/>
            <a:ext cx="0" cy="329184"/>
          </a:xfrm>
          <a:prstGeom prst="line">
            <a:avLst/>
          </a:prstGeom>
          <a:ln w="76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868680" y="4160520"/>
            <a:ext cx="4983480" cy="13258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4983" y="4270248"/>
            <a:ext cx="4690872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【请填写改善后】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8136" y="4617720"/>
            <a:ext cx="1694383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61741" y="4590288"/>
            <a:ext cx="996696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80" b="1">
                <a:solidFill>
                  <a:srgbClr val="009944"/>
                </a:solidFill>
                <a:latin typeface="Microsoft YaHei"/>
              </a:rP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57776" y="4617720"/>
            <a:ext cx="1395374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【请填写指标】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78407" y="4766309"/>
            <a:ext cx="4764024" cy="203454"/>
          </a:xfrm>
          <a:prstGeom prst="rect">
            <a:avLst/>
          </a:prstGeom>
          <a:solidFill>
            <a:srgbClr val="F7F7F7"/>
          </a:solidFill>
          <a:ln w="8890">
            <a:solidFill>
              <a:srgbClr val="F7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88136" y="4839462"/>
            <a:ext cx="1694383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【请填写数据】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61741" y="4812029"/>
            <a:ext cx="996696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【请填写证据】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57776" y="4839462"/>
            <a:ext cx="1395374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【请填写结论】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8136" y="5061204"/>
            <a:ext cx="1694383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【请填写对策】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61741" y="5033772"/>
            <a:ext cx="996696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【请填写验证方式】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57776" y="5061204"/>
            <a:ext cx="1395374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【请填写改善前】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78407" y="5209794"/>
            <a:ext cx="4764024" cy="203454"/>
          </a:xfrm>
          <a:prstGeom prst="rect">
            <a:avLst/>
          </a:prstGeom>
          <a:solidFill>
            <a:srgbClr val="F7F7F7"/>
          </a:solidFill>
          <a:ln w="8890">
            <a:solidFill>
              <a:srgbClr val="F7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88136" y="5282946"/>
            <a:ext cx="1694383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【请填写改善后】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961741" y="5255514"/>
            <a:ext cx="996696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57776" y="5282946"/>
            <a:ext cx="1395374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【请填写指标】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72200" y="4160520"/>
            <a:ext cx="1143000" cy="13258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172200" y="4160520"/>
            <a:ext cx="1143000" cy="256032"/>
          </a:xfrm>
          <a:prstGeom prst="rect">
            <a:avLst/>
          </a:prstGeom>
          <a:solidFill>
            <a:srgbClr val="FDECE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63640" y="4233672"/>
            <a:ext cx="347472" cy="731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【请填写数据】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47688" y="4224528"/>
            <a:ext cx="576072" cy="822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【请填写证据】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18504" y="4562856"/>
            <a:ext cx="8503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【请填写结论】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7360920" y="4823459"/>
            <a:ext cx="64007" cy="0"/>
          </a:xfrm>
          <a:prstGeom prst="line">
            <a:avLst/>
          </a:prstGeom>
          <a:ln w="13970">
            <a:solidFill>
              <a:srgbClr val="898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7498079" y="4160520"/>
            <a:ext cx="1143000" cy="13258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498079" y="4160520"/>
            <a:ext cx="1143000" cy="256032"/>
          </a:xfrm>
          <a:prstGeom prst="rect">
            <a:avLst/>
          </a:prstGeom>
          <a:solidFill>
            <a:srgbClr val="FDECEE"/>
          </a:solidFill>
          <a:ln w="8890"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89519" y="4233672"/>
            <a:ext cx="347472" cy="731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【请填写对策】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973567" y="4224528"/>
            <a:ext cx="576072" cy="822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【请填写验证方式】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44383" y="4562856"/>
            <a:ext cx="8503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【请填写改善前】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8686800" y="4823459"/>
            <a:ext cx="64007" cy="0"/>
          </a:xfrm>
          <a:prstGeom prst="line">
            <a:avLst/>
          </a:prstGeom>
          <a:ln w="13970">
            <a:solidFill>
              <a:srgbClr val="898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72"/>
          <p:cNvSpPr/>
          <p:nvPr/>
        </p:nvSpPr>
        <p:spPr>
          <a:xfrm>
            <a:off x="8823960" y="4160520"/>
            <a:ext cx="1143000" cy="13258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823960" y="4160520"/>
            <a:ext cx="1143000" cy="256032"/>
          </a:xfrm>
          <a:prstGeom prst="rect">
            <a:avLst/>
          </a:prstGeom>
          <a:solidFill>
            <a:srgbClr val="FDECEE"/>
          </a:solidFill>
          <a:ln w="889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915400" y="4233672"/>
            <a:ext cx="347472" cy="731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【请填写改善后】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299448" y="4224528"/>
            <a:ext cx="576072" cy="822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70264" y="4562856"/>
            <a:ext cx="8503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【请填写指标】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10012680" y="4823459"/>
            <a:ext cx="64008" cy="0"/>
          </a:xfrm>
          <a:prstGeom prst="line">
            <a:avLst/>
          </a:prstGeom>
          <a:ln w="13970">
            <a:solidFill>
              <a:srgbClr val="898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78"/>
          <p:cNvSpPr/>
          <p:nvPr/>
        </p:nvSpPr>
        <p:spPr>
          <a:xfrm>
            <a:off x="10149840" y="4160520"/>
            <a:ext cx="1143000" cy="13258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149840" y="4160520"/>
            <a:ext cx="1143000" cy="256032"/>
          </a:xfrm>
          <a:prstGeom prst="rect">
            <a:avLst/>
          </a:prstGeom>
          <a:solidFill>
            <a:srgbClr val="FDECEE"/>
          </a:solidFill>
          <a:ln w="8890">
            <a:solidFill>
              <a:srgbClr val="009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241280" y="4233672"/>
            <a:ext cx="347472" cy="731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【请填写数据】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25328" y="4224528"/>
            <a:ext cx="576072" cy="822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【请填写证据】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296144" y="4562856"/>
            <a:ext cx="8503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【请填写结论】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60704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原因分析：用鱼骨图收敛关键治理缺口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96112" y="1060704"/>
            <a:ext cx="868680" cy="0"/>
          </a:xfrm>
          <a:prstGeom prst="line">
            <a:avLst/>
          </a:prstGeom>
          <a:ln w="254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96112" y="1170432"/>
            <a:ext cx="10058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【请填写本页说明：用一句话说明本页要表达的核心结论】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2124" y="1559051"/>
            <a:ext cx="2606040" cy="804672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527048"/>
            <a:ext cx="2606040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1527048"/>
            <a:ext cx="50292" cy="804672"/>
          </a:xfrm>
          <a:prstGeom prst="rect">
            <a:avLst/>
          </a:prstGeom>
          <a:solidFill>
            <a:srgbClr val="C8102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34440" y="1728216"/>
            <a:ext cx="393192" cy="393192"/>
          </a:xfrm>
          <a:prstGeom prst="ellipse">
            <a:avLst/>
          </a:prstGeom>
          <a:solidFill>
            <a:srgbClr val="C8102E"/>
          </a:solidFill>
          <a:ln w="762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861901"/>
            <a:ext cx="393192" cy="865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728216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【请填写指标】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64792" y="1984248"/>
            <a:ext cx="1527048" cy="0"/>
          </a:xfrm>
          <a:prstGeom prst="line">
            <a:avLst/>
          </a:prstGeom>
          <a:ln w="889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764792" y="2084831"/>
            <a:ext cx="161848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【请填写数据】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2124" y="2793492"/>
            <a:ext cx="2606040" cy="804672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0120" y="2761488"/>
            <a:ext cx="2606040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0120" y="2761488"/>
            <a:ext cx="50292" cy="804672"/>
          </a:xfrm>
          <a:prstGeom prst="rect">
            <a:avLst/>
          </a:prstGeom>
          <a:solidFill>
            <a:srgbClr val="EB5C01"/>
          </a:solidFill>
          <a:ln w="8890"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34440" y="2962656"/>
            <a:ext cx="393192" cy="393192"/>
          </a:xfrm>
          <a:prstGeom prst="ellipse">
            <a:avLst/>
          </a:prstGeom>
          <a:solidFill>
            <a:srgbClr val="EB5C01"/>
          </a:solidFill>
          <a:ln w="7620"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3096341"/>
            <a:ext cx="393192" cy="865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【请填写证据】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4792" y="2962656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【请填写结论】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764792" y="3218688"/>
            <a:ext cx="1527048" cy="0"/>
          </a:xfrm>
          <a:prstGeom prst="line">
            <a:avLst/>
          </a:prstGeom>
          <a:ln w="889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764792" y="3319272"/>
            <a:ext cx="161848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【请填写对策】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2124" y="4027932"/>
            <a:ext cx="2606040" cy="804672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0120" y="3995928"/>
            <a:ext cx="2606040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0120" y="3995928"/>
            <a:ext cx="50292" cy="804672"/>
          </a:xfrm>
          <a:prstGeom prst="rect">
            <a:avLst/>
          </a:prstGeom>
          <a:solidFill>
            <a:srgbClr val="009944"/>
          </a:solidFill>
          <a:ln w="8890">
            <a:solidFill>
              <a:srgbClr val="009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234440" y="4197096"/>
            <a:ext cx="393192" cy="393192"/>
          </a:xfrm>
          <a:prstGeom prst="ellipse">
            <a:avLst/>
          </a:prstGeom>
          <a:solidFill>
            <a:srgbClr val="009944"/>
          </a:solidFill>
          <a:ln w="7620">
            <a:solidFill>
              <a:srgbClr val="009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4330781"/>
            <a:ext cx="393192" cy="865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【请填写验证方式】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197096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【请填写改善前】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64792" y="4453128"/>
            <a:ext cx="1527048" cy="0"/>
          </a:xfrm>
          <a:prstGeom prst="line">
            <a:avLst/>
          </a:prstGeom>
          <a:ln w="889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764792" y="4553712"/>
            <a:ext cx="161848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【请填写改善后】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58683" y="1559051"/>
            <a:ext cx="2606040" cy="804672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726679" y="1527048"/>
            <a:ext cx="2606040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282428" y="1527048"/>
            <a:ext cx="50292" cy="804672"/>
          </a:xfrm>
          <a:prstGeom prst="rect">
            <a:avLst/>
          </a:prstGeom>
          <a:solidFill>
            <a:srgbClr val="1F4E79"/>
          </a:solidFill>
          <a:ln w="889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001000" y="1728216"/>
            <a:ext cx="393192" cy="393192"/>
          </a:xfrm>
          <a:prstGeom prst="ellipse">
            <a:avLst/>
          </a:prstGeom>
          <a:solidFill>
            <a:srgbClr val="1F4E79"/>
          </a:solidFill>
          <a:ln w="762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01000" y="1861901"/>
            <a:ext cx="393192" cy="865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1352" y="1728216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【请填写指标】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531352" y="1984248"/>
            <a:ext cx="1527047" cy="0"/>
          </a:xfrm>
          <a:prstGeom prst="line">
            <a:avLst/>
          </a:prstGeom>
          <a:ln w="889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531352" y="2084831"/>
            <a:ext cx="161848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【请填写数据】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58683" y="2793492"/>
            <a:ext cx="2606040" cy="804672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726679" y="2761488"/>
            <a:ext cx="2606040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282428" y="2761488"/>
            <a:ext cx="50292" cy="804672"/>
          </a:xfrm>
          <a:prstGeom prst="rect">
            <a:avLst/>
          </a:prstGeom>
          <a:solidFill>
            <a:srgbClr val="7030A0"/>
          </a:solidFill>
          <a:ln w="889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001000" y="2962656"/>
            <a:ext cx="393192" cy="393192"/>
          </a:xfrm>
          <a:prstGeom prst="ellipse">
            <a:avLst/>
          </a:prstGeom>
          <a:solidFill>
            <a:srgbClr val="7030A0"/>
          </a:solidFill>
          <a:ln w="762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01000" y="3096341"/>
            <a:ext cx="393192" cy="865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【请填写证据】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31352" y="2962656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【请填写结论】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531352" y="3218688"/>
            <a:ext cx="1527047" cy="0"/>
          </a:xfrm>
          <a:prstGeom prst="line">
            <a:avLst/>
          </a:prstGeom>
          <a:ln w="889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531352" y="3319272"/>
            <a:ext cx="161848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【请填写对策】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58683" y="4027932"/>
            <a:ext cx="2606040" cy="804672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726679" y="3995928"/>
            <a:ext cx="2606040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282428" y="3995928"/>
            <a:ext cx="50292" cy="804672"/>
          </a:xfrm>
          <a:prstGeom prst="rect">
            <a:avLst/>
          </a:prstGeom>
          <a:solidFill>
            <a:srgbClr val="C8102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001000" y="4197096"/>
            <a:ext cx="393192" cy="393192"/>
          </a:xfrm>
          <a:prstGeom prst="ellipse">
            <a:avLst/>
          </a:prstGeom>
          <a:solidFill>
            <a:srgbClr val="C8102E"/>
          </a:solidFill>
          <a:ln w="762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01000" y="4330781"/>
            <a:ext cx="393192" cy="865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【请填写验证方式】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31352" y="4197096"/>
            <a:ext cx="50292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【请填写改善前】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531352" y="4453128"/>
            <a:ext cx="1527047" cy="0"/>
          </a:xfrm>
          <a:prstGeom prst="line">
            <a:avLst/>
          </a:prstGeom>
          <a:ln w="889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531352" y="4553712"/>
            <a:ext cx="161848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【请填写改善后】</a:t>
            </a:r>
          </a:p>
        </p:txBody>
      </p:sp>
      <p:sp>
        <p:nvSpPr>
          <p:cNvPr id="53" name="Oval 52"/>
          <p:cNvSpPr/>
          <p:nvPr/>
        </p:nvSpPr>
        <p:spPr>
          <a:xfrm>
            <a:off x="4828032" y="2267712"/>
            <a:ext cx="2029967" cy="1755648"/>
          </a:xfrm>
          <a:prstGeom prst="ellipse">
            <a:avLst/>
          </a:prstGeom>
          <a:noFill/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Hexagon 53"/>
          <p:cNvSpPr/>
          <p:nvPr/>
        </p:nvSpPr>
        <p:spPr>
          <a:xfrm>
            <a:off x="5175504" y="2624328"/>
            <a:ext cx="1389888" cy="1115568"/>
          </a:xfrm>
          <a:prstGeom prst="hexagon">
            <a:avLst/>
          </a:prstGeom>
          <a:solidFill>
            <a:srgbClr val="ECECEC"/>
          </a:solidFill>
          <a:ln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Hexagon 54"/>
          <p:cNvSpPr/>
          <p:nvPr/>
        </p:nvSpPr>
        <p:spPr>
          <a:xfrm>
            <a:off x="5148072" y="2587752"/>
            <a:ext cx="1389888" cy="1115568"/>
          </a:xfrm>
          <a:prstGeom prst="hexagon">
            <a:avLst/>
          </a:prstGeom>
          <a:solidFill>
            <a:srgbClr val="C8102E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239512" y="2953512"/>
            <a:ext cx="120700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【请填写内容】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3566160" y="1929384"/>
            <a:ext cx="594360" cy="0"/>
          </a:xfrm>
          <a:prstGeom prst="line">
            <a:avLst/>
          </a:prstGeom>
          <a:ln w="10160">
            <a:solidFill>
              <a:srgbClr val="898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160520" y="1929384"/>
            <a:ext cx="1033272" cy="859536"/>
          </a:xfrm>
          <a:prstGeom prst="line">
            <a:avLst/>
          </a:prstGeom>
          <a:ln w="10160">
            <a:solidFill>
              <a:srgbClr val="898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4119372" y="1888236"/>
            <a:ext cx="82296" cy="8229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3566160" y="3163824"/>
            <a:ext cx="594360" cy="0"/>
          </a:xfrm>
          <a:prstGeom prst="line">
            <a:avLst/>
          </a:prstGeom>
          <a:ln w="10160">
            <a:solidFill>
              <a:srgbClr val="898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4160520" y="3145536"/>
            <a:ext cx="1005839" cy="18288"/>
          </a:xfrm>
          <a:prstGeom prst="line">
            <a:avLst/>
          </a:prstGeom>
          <a:ln w="10160">
            <a:solidFill>
              <a:srgbClr val="898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4119372" y="3122676"/>
            <a:ext cx="82296" cy="8229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3566160" y="4398264"/>
            <a:ext cx="594360" cy="0"/>
          </a:xfrm>
          <a:prstGeom prst="line">
            <a:avLst/>
          </a:prstGeom>
          <a:ln w="10160">
            <a:solidFill>
              <a:srgbClr val="898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4160520" y="3502152"/>
            <a:ext cx="1033272" cy="896112"/>
          </a:xfrm>
          <a:prstGeom prst="line">
            <a:avLst/>
          </a:prstGeom>
          <a:ln w="10160">
            <a:solidFill>
              <a:srgbClr val="898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4119372" y="4357116"/>
            <a:ext cx="82296" cy="8229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 flipH="1">
            <a:off x="7315200" y="1929384"/>
            <a:ext cx="411479" cy="0"/>
          </a:xfrm>
          <a:prstGeom prst="line">
            <a:avLst/>
          </a:prstGeom>
          <a:ln w="10160">
            <a:solidFill>
              <a:srgbClr val="898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6492240" y="1929384"/>
            <a:ext cx="822960" cy="859536"/>
          </a:xfrm>
          <a:prstGeom prst="line">
            <a:avLst/>
          </a:prstGeom>
          <a:ln w="10160">
            <a:solidFill>
              <a:srgbClr val="898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7274052" y="1888236"/>
            <a:ext cx="82296" cy="8229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 flipH="1">
            <a:off x="7315200" y="3163824"/>
            <a:ext cx="411479" cy="0"/>
          </a:xfrm>
          <a:prstGeom prst="line">
            <a:avLst/>
          </a:prstGeom>
          <a:ln w="10160">
            <a:solidFill>
              <a:srgbClr val="898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 flipV="1">
            <a:off x="6519672" y="3145536"/>
            <a:ext cx="795528" cy="18288"/>
          </a:xfrm>
          <a:prstGeom prst="line">
            <a:avLst/>
          </a:prstGeom>
          <a:ln w="10160">
            <a:solidFill>
              <a:srgbClr val="898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7274052" y="3122676"/>
            <a:ext cx="82296" cy="8229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" name="Connector 71"/>
          <p:cNvCxnSpPr/>
          <p:nvPr/>
        </p:nvCxnSpPr>
        <p:spPr>
          <a:xfrm flipH="1">
            <a:off x="7315200" y="4398264"/>
            <a:ext cx="411479" cy="0"/>
          </a:xfrm>
          <a:prstGeom prst="line">
            <a:avLst/>
          </a:prstGeom>
          <a:ln w="10160">
            <a:solidFill>
              <a:srgbClr val="898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 flipV="1">
            <a:off x="6492240" y="3502152"/>
            <a:ext cx="822960" cy="896112"/>
          </a:xfrm>
          <a:prstGeom prst="line">
            <a:avLst/>
          </a:prstGeom>
          <a:ln w="10160">
            <a:solidFill>
              <a:srgbClr val="898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7274052" y="4357116"/>
            <a:ext cx="82296" cy="8229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015484" y="2747772"/>
            <a:ext cx="82296" cy="8229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988052" y="3104388"/>
            <a:ext cx="82296" cy="8229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015484" y="3461004"/>
            <a:ext cx="82296" cy="8229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588252" y="2747772"/>
            <a:ext cx="82296" cy="8229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6615684" y="3104388"/>
            <a:ext cx="82296" cy="8229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6588252" y="3461004"/>
            <a:ext cx="82296" cy="8229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868680" y="5522976"/>
            <a:ext cx="10561320" cy="5303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68680" y="5522976"/>
            <a:ext cx="1627632" cy="530352"/>
          </a:xfrm>
          <a:prstGeom prst="rect">
            <a:avLst/>
          </a:prstGeom>
          <a:solidFill>
            <a:srgbClr val="C8102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88136" y="5733288"/>
            <a:ext cx="1170432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【请填写指标】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2788920" y="5669280"/>
            <a:ext cx="0" cy="237744"/>
          </a:xfrm>
          <a:prstGeom prst="line">
            <a:avLst/>
          </a:prstGeom>
          <a:ln w="1016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3026663" y="5705856"/>
            <a:ext cx="6812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【请填写数据】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8366760" y="5669280"/>
            <a:ext cx="0" cy="237744"/>
          </a:xfrm>
          <a:prstGeom prst="line">
            <a:avLst/>
          </a:prstGeom>
          <a:ln w="1016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8595360" y="5705856"/>
            <a:ext cx="2514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【请填写证据】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60704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要因确认：每个关键原因必须有验证方式和证据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96112" y="1060704"/>
            <a:ext cx="868680" cy="0"/>
          </a:xfrm>
          <a:prstGeom prst="line">
            <a:avLst/>
          </a:prstGeom>
          <a:ln w="254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96112" y="1170432"/>
            <a:ext cx="10058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【请填写本页说明：用一句话说明本页要表达的核心结论】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6403" y="1632204"/>
            <a:ext cx="4800600" cy="932688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00200"/>
            <a:ext cx="4800600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600200"/>
            <a:ext cx="73152" cy="932688"/>
          </a:xfrm>
          <a:prstGeom prst="rect">
            <a:avLst/>
          </a:prstGeom>
          <a:solidFill>
            <a:srgbClr val="C8102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15568" y="1764792"/>
            <a:ext cx="365760" cy="365760"/>
          </a:xfrm>
          <a:prstGeom prst="ellipse">
            <a:avLst/>
          </a:prstGeom>
          <a:solidFill>
            <a:srgbClr val="C8102E"/>
          </a:solidFill>
          <a:ln w="762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176479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1746504"/>
            <a:ext cx="3904487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【请填写指标】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2039112"/>
            <a:ext cx="640080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【请填写数据】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9152" y="2020824"/>
            <a:ext cx="3172968" cy="118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【请填写证据】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2276856"/>
            <a:ext cx="411480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【请填写结论】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9152" y="2258568"/>
            <a:ext cx="3172968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【请填写对策】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5644" y="1632204"/>
            <a:ext cx="4800600" cy="932688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3640" y="1600200"/>
            <a:ext cx="4800600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600200"/>
            <a:ext cx="73152" cy="932688"/>
          </a:xfrm>
          <a:prstGeom prst="rect">
            <a:avLst/>
          </a:prstGeom>
          <a:solidFill>
            <a:srgbClr val="EB5C01"/>
          </a:solidFill>
          <a:ln w="8890"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64807" y="1764792"/>
            <a:ext cx="365760" cy="365760"/>
          </a:xfrm>
          <a:prstGeom prst="ellipse">
            <a:avLst/>
          </a:prstGeom>
          <a:solidFill>
            <a:srgbClr val="EB5C01"/>
          </a:solidFill>
          <a:ln w="7620"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7" y="176479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>
                <a:latin typeface="Microsoft YaHei"/>
              </a:rPr>
              <a:t>【请填写验证方式】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2" y="1746504"/>
            <a:ext cx="3904487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【请填写改善前】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6872" y="2039112"/>
            <a:ext cx="640080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【请填写改善后】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08392" y="2020824"/>
            <a:ext cx="3172968" cy="118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6872" y="2276856"/>
            <a:ext cx="411480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【请填写指标】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08392" y="2258568"/>
            <a:ext cx="3172968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【请填写数据】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6403" y="2848356"/>
            <a:ext cx="4800600" cy="932688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4400" y="2816352"/>
            <a:ext cx="4800600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2816352"/>
            <a:ext cx="73152" cy="932688"/>
          </a:xfrm>
          <a:prstGeom prst="rect">
            <a:avLst/>
          </a:prstGeom>
          <a:solidFill>
            <a:srgbClr val="1F4E79"/>
          </a:solidFill>
          <a:ln w="889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15568" y="2980944"/>
            <a:ext cx="365760" cy="365760"/>
          </a:xfrm>
          <a:prstGeom prst="ellipse">
            <a:avLst/>
          </a:prstGeom>
          <a:solidFill>
            <a:srgbClr val="1F4E79"/>
          </a:solidFill>
          <a:ln w="762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5568" y="29809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>
                <a:latin typeface="Microsoft YaHei"/>
              </a:rPr>
              <a:t>【请填写证据】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27632" y="2962656"/>
            <a:ext cx="3904487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【请填写结论】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27632" y="3255264"/>
            <a:ext cx="640080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【请填写对策】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59152" y="3236976"/>
            <a:ext cx="3172968" cy="118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【请填写验证方式】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27632" y="3493008"/>
            <a:ext cx="411480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【请填写改善前】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59152" y="3474720"/>
            <a:ext cx="3172968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【请填写改善后】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95644" y="2848356"/>
            <a:ext cx="4800600" cy="932688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63640" y="2816352"/>
            <a:ext cx="4800600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63640" y="2816352"/>
            <a:ext cx="73152" cy="932688"/>
          </a:xfrm>
          <a:prstGeom prst="rect">
            <a:avLst/>
          </a:prstGeom>
          <a:solidFill>
            <a:srgbClr val="009944"/>
          </a:solidFill>
          <a:ln w="8890">
            <a:solidFill>
              <a:srgbClr val="009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64807" y="2980944"/>
            <a:ext cx="365760" cy="365760"/>
          </a:xfrm>
          <a:prstGeom prst="ellipse">
            <a:avLst/>
          </a:prstGeom>
          <a:solidFill>
            <a:srgbClr val="009944"/>
          </a:solidFill>
          <a:ln w="7620">
            <a:solidFill>
              <a:srgbClr val="009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64807" y="29809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76872" y="2962656"/>
            <a:ext cx="3904487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【请填写指标】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76872" y="3255264"/>
            <a:ext cx="640080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【请填写数据】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08392" y="3236976"/>
            <a:ext cx="3172968" cy="118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【请填写证据】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76872" y="3493008"/>
            <a:ext cx="411480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【请填写结论】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08392" y="3474720"/>
            <a:ext cx="3172968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【请填写对策】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46403" y="4064508"/>
            <a:ext cx="10149840" cy="932688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14400" y="4032504"/>
            <a:ext cx="10149840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" y="4032504"/>
            <a:ext cx="73152" cy="932688"/>
          </a:xfrm>
          <a:prstGeom prst="rect">
            <a:avLst/>
          </a:prstGeom>
          <a:solidFill>
            <a:srgbClr val="7030A0"/>
          </a:solidFill>
          <a:ln w="889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15568" y="4197096"/>
            <a:ext cx="365760" cy="365760"/>
          </a:xfrm>
          <a:prstGeom prst="ellipse">
            <a:avLst/>
          </a:prstGeom>
          <a:solidFill>
            <a:srgbClr val="7030A0"/>
          </a:solidFill>
          <a:ln w="762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15568" y="41970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>
                <a:latin typeface="Microsoft YaHei"/>
              </a:rPr>
              <a:t>【请填写验证方式】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27632" y="4178808"/>
            <a:ext cx="925372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【请填写改善前】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27632" y="4471416"/>
            <a:ext cx="640080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【请填写改善后】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59152" y="4453128"/>
            <a:ext cx="8522208" cy="118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27632" y="4709160"/>
            <a:ext cx="411480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【请填写指标】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59152" y="4690872"/>
            <a:ext cx="8522208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【请填写数据】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8680" y="5358384"/>
            <a:ext cx="10561320" cy="5486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68680" y="5358384"/>
            <a:ext cx="1627632" cy="548640"/>
          </a:xfrm>
          <a:prstGeom prst="rect">
            <a:avLst/>
          </a:prstGeom>
          <a:solidFill>
            <a:srgbClr val="C8102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88136" y="5568696"/>
            <a:ext cx="1170432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【请填写证据】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2788920" y="5504688"/>
            <a:ext cx="0" cy="256032"/>
          </a:xfrm>
          <a:prstGeom prst="line">
            <a:avLst/>
          </a:prstGeom>
          <a:ln w="1016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3026663" y="5541264"/>
            <a:ext cx="81381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【请填写结论】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60704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对策制定：以卡片矩阵保障“要因—对策—实施—验证”闭环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96112" y="1060704"/>
            <a:ext cx="868680" cy="0"/>
          </a:xfrm>
          <a:prstGeom prst="line">
            <a:avLst/>
          </a:prstGeom>
          <a:ln w="254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96112" y="1170432"/>
            <a:ext cx="10058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【请填写本页说明：用一句话说明本页要表达的核心结论】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0684" y="1568195"/>
            <a:ext cx="4800600" cy="1234440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536192"/>
            <a:ext cx="4800600" cy="1234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536192"/>
            <a:ext cx="73152" cy="1234440"/>
          </a:xfrm>
          <a:prstGeom prst="rect">
            <a:avLst/>
          </a:prstGeom>
          <a:solidFill>
            <a:srgbClr val="C8102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1" y="1700784"/>
            <a:ext cx="347472" cy="347472"/>
          </a:xfrm>
          <a:prstGeom prst="ellipse">
            <a:avLst/>
          </a:prstGeom>
          <a:solidFill>
            <a:srgbClr val="C8102E"/>
          </a:solidFill>
          <a:ln w="762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17007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682495"/>
            <a:ext cx="3977639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【请填写指标】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08760" y="1929384"/>
            <a:ext cx="3931920" cy="0"/>
          </a:xfrm>
          <a:prstGeom prst="line">
            <a:avLst/>
          </a:prstGeom>
          <a:ln w="762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43000" y="2039112"/>
            <a:ext cx="425196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【请填写数据】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286000"/>
            <a:ext cx="425196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【请填写证据】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523744"/>
            <a:ext cx="425196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【请填写结论】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12764" y="1568195"/>
            <a:ext cx="4800600" cy="1234440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80760" y="1536192"/>
            <a:ext cx="4800600" cy="1234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1536192"/>
            <a:ext cx="73152" cy="1234440"/>
          </a:xfrm>
          <a:prstGeom prst="rect">
            <a:avLst/>
          </a:prstGeom>
          <a:solidFill>
            <a:srgbClr val="EB5C01"/>
          </a:solidFill>
          <a:ln w="8890"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45352" y="1700784"/>
            <a:ext cx="347472" cy="347472"/>
          </a:xfrm>
          <a:prstGeom prst="ellipse">
            <a:avLst/>
          </a:prstGeom>
          <a:solidFill>
            <a:srgbClr val="EB5C01"/>
          </a:solidFill>
          <a:ln w="7620"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17007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>
                <a:latin typeface="Microsoft YaHei"/>
              </a:rPr>
              <a:t>【请填写对策】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1682495"/>
            <a:ext cx="3977639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【请填写验证方式】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720840" y="1929384"/>
            <a:ext cx="3931920" cy="0"/>
          </a:xfrm>
          <a:prstGeom prst="line">
            <a:avLst/>
          </a:prstGeom>
          <a:ln w="762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355080" y="2039112"/>
            <a:ext cx="425196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【请填写改善前】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286000"/>
            <a:ext cx="425196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【请填写改善后】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523744"/>
            <a:ext cx="425196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684" y="3076956"/>
            <a:ext cx="4800600" cy="1234440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68680" y="3044952"/>
            <a:ext cx="4800600" cy="1234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68680" y="3044952"/>
            <a:ext cx="73152" cy="1234440"/>
          </a:xfrm>
          <a:prstGeom prst="rect">
            <a:avLst/>
          </a:prstGeom>
          <a:solidFill>
            <a:srgbClr val="1F4E79"/>
          </a:solidFill>
          <a:ln w="889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1" y="3209544"/>
            <a:ext cx="347472" cy="347472"/>
          </a:xfrm>
          <a:prstGeom prst="ellipse">
            <a:avLst/>
          </a:prstGeom>
          <a:solidFill>
            <a:srgbClr val="1F4E79"/>
          </a:solidFill>
          <a:ln w="762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1" y="320954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>
                <a:latin typeface="Microsoft YaHei"/>
              </a:rPr>
              <a:t>【请填写指标】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3191256"/>
            <a:ext cx="3977639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【请填写数据】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508760" y="3438144"/>
            <a:ext cx="3931920" cy="0"/>
          </a:xfrm>
          <a:prstGeom prst="line">
            <a:avLst/>
          </a:prstGeom>
          <a:ln w="762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143000" y="3547872"/>
            <a:ext cx="425196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【请填写证据】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3794760"/>
            <a:ext cx="425196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【请填写结论】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4032504"/>
            <a:ext cx="425196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【请填写对策】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12764" y="3076956"/>
            <a:ext cx="4800600" cy="1234440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080760" y="3044952"/>
            <a:ext cx="4800600" cy="12344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80760" y="3044952"/>
            <a:ext cx="73152" cy="1234440"/>
          </a:xfrm>
          <a:prstGeom prst="rect">
            <a:avLst/>
          </a:prstGeom>
          <a:solidFill>
            <a:srgbClr val="009944"/>
          </a:solidFill>
          <a:ln w="8890">
            <a:solidFill>
              <a:srgbClr val="009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245352" y="3209544"/>
            <a:ext cx="347472" cy="347472"/>
          </a:xfrm>
          <a:prstGeom prst="ellipse">
            <a:avLst/>
          </a:prstGeom>
          <a:solidFill>
            <a:srgbClr val="009944"/>
          </a:solidFill>
          <a:ln w="7620">
            <a:solidFill>
              <a:srgbClr val="009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45352" y="320954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>
                <a:latin typeface="Microsoft YaHei"/>
              </a:rPr>
              <a:t>【请填写验证方式】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191256"/>
            <a:ext cx="3977639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【请填写改善前】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720840" y="3438144"/>
            <a:ext cx="3931920" cy="0"/>
          </a:xfrm>
          <a:prstGeom prst="line">
            <a:avLst/>
          </a:prstGeom>
          <a:ln w="762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355080" y="3547872"/>
            <a:ext cx="425196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【请填写改善后】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3794760"/>
            <a:ext cx="425196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4032504"/>
            <a:ext cx="425196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【请填写指标】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8680" y="5358384"/>
            <a:ext cx="10561320" cy="5486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68680" y="5358384"/>
            <a:ext cx="1627632" cy="548640"/>
          </a:xfrm>
          <a:prstGeom prst="rect">
            <a:avLst/>
          </a:prstGeom>
          <a:solidFill>
            <a:srgbClr val="C8102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88136" y="5568696"/>
            <a:ext cx="1170432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【请填写数据】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2788920" y="5504688"/>
            <a:ext cx="0" cy="256032"/>
          </a:xfrm>
          <a:prstGeom prst="line">
            <a:avLst/>
          </a:prstGeom>
          <a:ln w="1016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026663" y="5541264"/>
            <a:ext cx="81381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【请填写证据】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60704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对策实施一：构建采样、诊断、决策、执行的闭环控制链路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96112" y="1060704"/>
            <a:ext cx="868680" cy="0"/>
          </a:xfrm>
          <a:prstGeom prst="line">
            <a:avLst/>
          </a:prstGeom>
          <a:ln w="254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96112" y="1170432"/>
            <a:ext cx="10058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【请填写本页说明：用一句话说明本页要表达的核心结论】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572768"/>
            <a:ext cx="10561320" cy="36393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737360"/>
            <a:ext cx="914400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20" y="1737360"/>
            <a:ext cx="914400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【请填写指标】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21240" y="1737360"/>
            <a:ext cx="914400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>
                <a:latin typeface="Microsoft YaHei"/>
              </a:rPr>
              <a:t>【请填写数据】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83563" y="2135124"/>
            <a:ext cx="2148840" cy="960120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51560" y="2103120"/>
            <a:ext cx="214884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51560" y="2103120"/>
            <a:ext cx="64008" cy="960120"/>
          </a:xfrm>
          <a:prstGeom prst="rect">
            <a:avLst/>
          </a:prstGeom>
          <a:solidFill>
            <a:srgbClr val="C8102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34439" y="2276856"/>
            <a:ext cx="384048" cy="384048"/>
          </a:xfrm>
          <a:prstGeom prst="ellipse">
            <a:avLst/>
          </a:prstGeom>
          <a:solidFill>
            <a:srgbClr val="C8102E"/>
          </a:solidFill>
          <a:ln w="762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39" y="227685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28216" y="2267712"/>
            <a:ext cx="1289304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【请填写证据】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728216" y="2532887"/>
            <a:ext cx="1243584" cy="0"/>
          </a:xfrm>
          <a:prstGeom prst="line">
            <a:avLst/>
          </a:prstGeom>
          <a:ln w="762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728216" y="2633472"/>
            <a:ext cx="125272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【请填写结论】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89304" y="2971799"/>
            <a:ext cx="1673352" cy="32004"/>
          </a:xfrm>
          <a:prstGeom prst="rect">
            <a:avLst/>
          </a:prstGeom>
          <a:solidFill>
            <a:srgbClr val="C8102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83563" y="3552444"/>
            <a:ext cx="2148840" cy="960120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1560" y="3520440"/>
            <a:ext cx="214884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51560" y="3520440"/>
            <a:ext cx="64008" cy="960120"/>
          </a:xfrm>
          <a:prstGeom prst="rect">
            <a:avLst/>
          </a:prstGeom>
          <a:solidFill>
            <a:srgbClr val="EB5C01"/>
          </a:solidFill>
          <a:ln w="8890"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34439" y="3694176"/>
            <a:ext cx="384048" cy="384048"/>
          </a:xfrm>
          <a:prstGeom prst="ellipse">
            <a:avLst/>
          </a:prstGeom>
          <a:solidFill>
            <a:srgbClr val="EB5C01"/>
          </a:solidFill>
          <a:ln w="7620"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39" y="36941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28216" y="3685032"/>
            <a:ext cx="1289304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【请填写对策】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28216" y="3950208"/>
            <a:ext cx="1243584" cy="0"/>
          </a:xfrm>
          <a:prstGeom prst="line">
            <a:avLst/>
          </a:prstGeom>
          <a:ln w="762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728216" y="4050791"/>
            <a:ext cx="125272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【请填写验证方式】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89304" y="4389120"/>
            <a:ext cx="1673352" cy="32004"/>
          </a:xfrm>
          <a:prstGeom prst="rect">
            <a:avLst/>
          </a:prstGeom>
          <a:solidFill>
            <a:srgbClr val="EB5C01"/>
          </a:solidFill>
          <a:ln w="8890"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918204" y="2729484"/>
            <a:ext cx="2240280" cy="1078992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886200" y="2697480"/>
            <a:ext cx="224028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886200" y="2697480"/>
            <a:ext cx="64008" cy="1078992"/>
          </a:xfrm>
          <a:prstGeom prst="rect">
            <a:avLst/>
          </a:prstGeom>
          <a:solidFill>
            <a:srgbClr val="1F4E79"/>
          </a:solidFill>
          <a:ln w="889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069080" y="2871216"/>
            <a:ext cx="384048" cy="384048"/>
          </a:xfrm>
          <a:prstGeom prst="ellipse">
            <a:avLst/>
          </a:prstGeom>
          <a:solidFill>
            <a:srgbClr val="1F4E79"/>
          </a:solidFill>
          <a:ln w="762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69080" y="287121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2856" y="2862072"/>
            <a:ext cx="1380744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【请填写改善前】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562856" y="3127248"/>
            <a:ext cx="1335024" cy="0"/>
          </a:xfrm>
          <a:prstGeom prst="line">
            <a:avLst/>
          </a:prstGeom>
          <a:ln w="762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562856" y="3227832"/>
            <a:ext cx="134416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【请填写改善后】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23944" y="3685032"/>
            <a:ext cx="1764792" cy="32004"/>
          </a:xfrm>
          <a:prstGeom prst="rect">
            <a:avLst/>
          </a:prstGeom>
          <a:solidFill>
            <a:srgbClr val="1F4E79"/>
          </a:solidFill>
          <a:ln w="889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387084" y="2363724"/>
            <a:ext cx="1874519" cy="1783080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355080" y="2331720"/>
            <a:ext cx="1874519" cy="1783080"/>
          </a:xfrm>
          <a:prstGeom prst="roundRect">
            <a:avLst/>
          </a:prstGeom>
          <a:solidFill>
            <a:srgbClr val="C8102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127748" y="2560320"/>
            <a:ext cx="329184" cy="3291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82612" y="2606039"/>
            <a:ext cx="219456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9672" y="3044952"/>
            <a:ext cx="1545336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【请填写指标】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3392424"/>
            <a:ext cx="150876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【请填写数据】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64524" y="2135124"/>
            <a:ext cx="2240280" cy="960120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732520" y="2103120"/>
            <a:ext cx="2240280" cy="960120"/>
          </a:xfrm>
          <a:prstGeom prst="roundRect">
            <a:avLst/>
          </a:prstGeom>
          <a:solidFill>
            <a:srgbClr val="FDECEE"/>
          </a:solidFill>
          <a:ln w="8890">
            <a:solidFill>
              <a:srgbClr val="009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732520" y="2103120"/>
            <a:ext cx="64008" cy="960120"/>
          </a:xfrm>
          <a:prstGeom prst="rect">
            <a:avLst/>
          </a:prstGeom>
          <a:solidFill>
            <a:srgbClr val="009944"/>
          </a:solidFill>
          <a:ln w="8890">
            <a:solidFill>
              <a:srgbClr val="009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915400" y="2276856"/>
            <a:ext cx="384048" cy="384048"/>
          </a:xfrm>
          <a:prstGeom prst="ellipse">
            <a:avLst/>
          </a:prstGeom>
          <a:solidFill>
            <a:srgbClr val="009944"/>
          </a:solidFill>
          <a:ln w="7620">
            <a:solidFill>
              <a:srgbClr val="009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5400" y="227685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09176" y="2267712"/>
            <a:ext cx="1380744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【请填写证据】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409176" y="2532887"/>
            <a:ext cx="1335024" cy="0"/>
          </a:xfrm>
          <a:prstGeom prst="line">
            <a:avLst/>
          </a:prstGeom>
          <a:ln w="762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409176" y="2633472"/>
            <a:ext cx="134416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【请填写结论】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70264" y="2971799"/>
            <a:ext cx="1764792" cy="32004"/>
          </a:xfrm>
          <a:prstGeom prst="rect">
            <a:avLst/>
          </a:prstGeom>
          <a:solidFill>
            <a:srgbClr val="009944"/>
          </a:solidFill>
          <a:ln w="8890">
            <a:solidFill>
              <a:srgbClr val="009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764524" y="3552444"/>
            <a:ext cx="2240280" cy="960120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732520" y="3520440"/>
            <a:ext cx="224028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732520" y="3520440"/>
            <a:ext cx="64008" cy="960120"/>
          </a:xfrm>
          <a:prstGeom prst="rect">
            <a:avLst/>
          </a:prstGeom>
          <a:solidFill>
            <a:srgbClr val="C8102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915400" y="3694176"/>
            <a:ext cx="384048" cy="384048"/>
          </a:xfrm>
          <a:prstGeom prst="ellipse">
            <a:avLst/>
          </a:prstGeom>
          <a:solidFill>
            <a:srgbClr val="C8102E"/>
          </a:solidFill>
          <a:ln w="762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15400" y="36941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09176" y="3685032"/>
            <a:ext cx="1380744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【请填写对策】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409176" y="3950208"/>
            <a:ext cx="1335024" cy="0"/>
          </a:xfrm>
          <a:prstGeom prst="line">
            <a:avLst/>
          </a:prstGeom>
          <a:ln w="762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409176" y="4050791"/>
            <a:ext cx="134416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【请填写验证方式】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70264" y="4389120"/>
            <a:ext cx="1764792" cy="32004"/>
          </a:xfrm>
          <a:prstGeom prst="rect">
            <a:avLst/>
          </a:prstGeom>
          <a:solidFill>
            <a:srgbClr val="C8102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3246120" y="2578608"/>
            <a:ext cx="521208" cy="329184"/>
          </a:xfrm>
          <a:prstGeom prst="line">
            <a:avLst/>
          </a:prstGeom>
          <a:ln w="13970">
            <a:solidFill>
              <a:srgbClr val="898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246120" y="3456432"/>
            <a:ext cx="521208" cy="539496"/>
          </a:xfrm>
          <a:prstGeom prst="line">
            <a:avLst/>
          </a:prstGeom>
          <a:ln w="13970">
            <a:solidFill>
              <a:srgbClr val="898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6126480" y="3236976"/>
            <a:ext cx="210312" cy="0"/>
          </a:xfrm>
          <a:prstGeom prst="line">
            <a:avLst/>
          </a:prstGeom>
          <a:ln w="13970">
            <a:solidFill>
              <a:srgbClr val="898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8229600" y="2578608"/>
            <a:ext cx="438912" cy="393192"/>
          </a:xfrm>
          <a:prstGeom prst="line">
            <a:avLst/>
          </a:prstGeom>
          <a:ln w="13970">
            <a:solidFill>
              <a:srgbClr val="898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8229600" y="3520440"/>
            <a:ext cx="438912" cy="484632"/>
          </a:xfrm>
          <a:prstGeom prst="line">
            <a:avLst/>
          </a:prstGeom>
          <a:ln w="13970">
            <a:solidFill>
              <a:srgbClr val="898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1645920" y="4892040"/>
            <a:ext cx="8503920" cy="0"/>
          </a:xfrm>
          <a:prstGeom prst="line">
            <a:avLst/>
          </a:prstGeom>
          <a:ln w="12700">
            <a:solidFill>
              <a:srgbClr val="898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>
            <a:off x="1645920" y="4892040"/>
            <a:ext cx="164592" cy="0"/>
          </a:xfrm>
          <a:prstGeom prst="line">
            <a:avLst/>
          </a:prstGeom>
          <a:ln w="1397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4892040" y="4727448"/>
            <a:ext cx="2011680" cy="3291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01768" y="4846320"/>
            <a:ext cx="1792224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【请填写改善前】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68680" y="5532120"/>
            <a:ext cx="10561320" cy="49377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68680" y="5532120"/>
            <a:ext cx="1627632" cy="493776"/>
          </a:xfrm>
          <a:prstGeom prst="rect">
            <a:avLst/>
          </a:prstGeom>
          <a:solidFill>
            <a:srgbClr val="C8102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88136" y="5742432"/>
            <a:ext cx="1170432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【请填写改善后】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2788920" y="5678424"/>
            <a:ext cx="0" cy="201168"/>
          </a:xfrm>
          <a:prstGeom prst="line">
            <a:avLst/>
          </a:prstGeom>
          <a:ln w="1016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3026663" y="5715000"/>
            <a:ext cx="6812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【请填写内容】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8366760" y="5678424"/>
            <a:ext cx="0" cy="201168"/>
          </a:xfrm>
          <a:prstGeom prst="line">
            <a:avLst/>
          </a:prstGeom>
          <a:ln w="1016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8595360" y="5715000"/>
            <a:ext cx="2514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【请填写指标】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60704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对策实施二：SafetyGate 将动态调整变成可控治理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96112" y="1060704"/>
            <a:ext cx="868680" cy="0"/>
          </a:xfrm>
          <a:prstGeom prst="line">
            <a:avLst/>
          </a:prstGeom>
          <a:ln w="254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96112" y="1170432"/>
            <a:ext cx="10058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【请填写本页说明：用一句话说明本页要表达的核心结论】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572768"/>
            <a:ext cx="10561320" cy="36118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106924" y="2180844"/>
            <a:ext cx="2011680" cy="1874519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74920" y="2148840"/>
            <a:ext cx="2011680" cy="1874519"/>
          </a:xfrm>
          <a:prstGeom prst="roundRect">
            <a:avLst/>
          </a:prstGeom>
          <a:solidFill>
            <a:srgbClr val="C8102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16168" y="2377440"/>
            <a:ext cx="329184" cy="3291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71032" y="2423160"/>
            <a:ext cx="219456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9512" y="2862072"/>
            <a:ext cx="1682496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【请填写指标】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3209544"/>
            <a:ext cx="164592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【请填写数据】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3563" y="1815084"/>
            <a:ext cx="2880360" cy="804672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51560" y="1783080"/>
            <a:ext cx="2880360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1560" y="1783080"/>
            <a:ext cx="64008" cy="804672"/>
          </a:xfrm>
          <a:prstGeom prst="rect">
            <a:avLst/>
          </a:prstGeom>
          <a:solidFill>
            <a:srgbClr val="C8102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34439" y="1956816"/>
            <a:ext cx="384048" cy="384048"/>
          </a:xfrm>
          <a:prstGeom prst="ellipse">
            <a:avLst/>
          </a:prstGeom>
          <a:solidFill>
            <a:srgbClr val="C8102E"/>
          </a:solidFill>
          <a:ln w="762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39" y="195681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>
                <a:latin typeface="Microsoft YaHei"/>
              </a:rPr>
              <a:t>【请填写证据】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28216" y="1947672"/>
            <a:ext cx="2020824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【请填写结论】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728216" y="2212848"/>
            <a:ext cx="1975104" cy="0"/>
          </a:xfrm>
          <a:prstGeom prst="line">
            <a:avLst/>
          </a:prstGeom>
          <a:ln w="762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728216" y="2313432"/>
            <a:ext cx="19842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【请填写对策】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89304" y="2496312"/>
            <a:ext cx="2404872" cy="32004"/>
          </a:xfrm>
          <a:prstGeom prst="rect">
            <a:avLst/>
          </a:prstGeom>
          <a:solidFill>
            <a:srgbClr val="C8102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3977639" y="2185416"/>
            <a:ext cx="1033273" cy="877824"/>
          </a:xfrm>
          <a:prstGeom prst="line">
            <a:avLst/>
          </a:prstGeom>
          <a:ln w="13970">
            <a:solidFill>
              <a:srgbClr val="898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83563" y="2857500"/>
            <a:ext cx="2880360" cy="804672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51560" y="2825496"/>
            <a:ext cx="2880360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51560" y="2825496"/>
            <a:ext cx="64008" cy="804672"/>
          </a:xfrm>
          <a:prstGeom prst="rect">
            <a:avLst/>
          </a:prstGeom>
          <a:solidFill>
            <a:srgbClr val="EB5C01"/>
          </a:solidFill>
          <a:ln w="8890"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34439" y="2999232"/>
            <a:ext cx="384048" cy="384048"/>
          </a:xfrm>
          <a:prstGeom prst="ellipse">
            <a:avLst/>
          </a:prstGeom>
          <a:solidFill>
            <a:srgbClr val="EB5C01"/>
          </a:solidFill>
          <a:ln w="7620"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39" y="299923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>
                <a:latin typeface="Microsoft YaHei"/>
              </a:rPr>
              <a:t>【请填写验证方式】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28216" y="2990088"/>
            <a:ext cx="2020824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【请填写改善前】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728216" y="3255263"/>
            <a:ext cx="1975104" cy="0"/>
          </a:xfrm>
          <a:prstGeom prst="line">
            <a:avLst/>
          </a:prstGeom>
          <a:ln w="762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728216" y="3355848"/>
            <a:ext cx="19842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【请填写改善后】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89304" y="3538727"/>
            <a:ext cx="2404872" cy="32004"/>
          </a:xfrm>
          <a:prstGeom prst="rect">
            <a:avLst/>
          </a:prstGeom>
          <a:solidFill>
            <a:srgbClr val="EB5C01"/>
          </a:solidFill>
          <a:ln w="8890"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V="1">
            <a:off x="3977639" y="3063240"/>
            <a:ext cx="1033273" cy="164592"/>
          </a:xfrm>
          <a:prstGeom prst="line">
            <a:avLst/>
          </a:prstGeom>
          <a:ln w="13970">
            <a:solidFill>
              <a:srgbClr val="898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83563" y="3899915"/>
            <a:ext cx="2880360" cy="804672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51560" y="3867911"/>
            <a:ext cx="2880360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51560" y="3867911"/>
            <a:ext cx="64008" cy="804672"/>
          </a:xfrm>
          <a:prstGeom prst="rect">
            <a:avLst/>
          </a:prstGeom>
          <a:solidFill>
            <a:srgbClr val="1F4E79"/>
          </a:solidFill>
          <a:ln w="889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234439" y="4041648"/>
            <a:ext cx="384048" cy="384048"/>
          </a:xfrm>
          <a:prstGeom prst="ellipse">
            <a:avLst/>
          </a:prstGeom>
          <a:solidFill>
            <a:srgbClr val="1F4E79"/>
          </a:solidFill>
          <a:ln w="762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34439" y="40416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28216" y="4032503"/>
            <a:ext cx="2020824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【请填写指标】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728216" y="4297679"/>
            <a:ext cx="1975104" cy="0"/>
          </a:xfrm>
          <a:prstGeom prst="line">
            <a:avLst/>
          </a:prstGeom>
          <a:ln w="762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728216" y="4398264"/>
            <a:ext cx="19842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【请填写数据】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89304" y="4581144"/>
            <a:ext cx="2404872" cy="32004"/>
          </a:xfrm>
          <a:prstGeom prst="rect">
            <a:avLst/>
          </a:prstGeom>
          <a:solidFill>
            <a:srgbClr val="1F4E79"/>
          </a:solidFill>
          <a:ln w="889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 flipV="1">
            <a:off x="3977639" y="3063240"/>
            <a:ext cx="1033273" cy="1207008"/>
          </a:xfrm>
          <a:prstGeom prst="line">
            <a:avLst/>
          </a:prstGeom>
          <a:ln w="13970">
            <a:solidFill>
              <a:srgbClr val="898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060436" y="1815084"/>
            <a:ext cx="2880360" cy="804672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028431" y="1783080"/>
            <a:ext cx="2880360" cy="804672"/>
          </a:xfrm>
          <a:prstGeom prst="roundRect">
            <a:avLst/>
          </a:prstGeom>
          <a:solidFill>
            <a:srgbClr val="FDECEE"/>
          </a:solidFill>
          <a:ln w="8890">
            <a:solidFill>
              <a:srgbClr val="009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28431" y="1783080"/>
            <a:ext cx="64008" cy="804672"/>
          </a:xfrm>
          <a:prstGeom prst="rect">
            <a:avLst/>
          </a:prstGeom>
          <a:solidFill>
            <a:srgbClr val="009944"/>
          </a:solidFill>
          <a:ln w="8890">
            <a:solidFill>
              <a:srgbClr val="009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211311" y="1956816"/>
            <a:ext cx="384048" cy="384048"/>
          </a:xfrm>
          <a:prstGeom prst="ellipse">
            <a:avLst/>
          </a:prstGeom>
          <a:solidFill>
            <a:srgbClr val="009944"/>
          </a:solidFill>
          <a:ln w="7620">
            <a:solidFill>
              <a:srgbClr val="009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11311" y="195681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>
                <a:latin typeface="Microsoft YaHei"/>
              </a:rPr>
              <a:t>【请填写证据】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05088" y="1947672"/>
            <a:ext cx="2020824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【请填写结论】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705088" y="2212848"/>
            <a:ext cx="1975104" cy="0"/>
          </a:xfrm>
          <a:prstGeom prst="line">
            <a:avLst/>
          </a:prstGeom>
          <a:ln w="762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705088" y="2313432"/>
            <a:ext cx="19842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【请填写对策】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66175" y="2496312"/>
            <a:ext cx="2404872" cy="32004"/>
          </a:xfrm>
          <a:prstGeom prst="rect">
            <a:avLst/>
          </a:prstGeom>
          <a:solidFill>
            <a:srgbClr val="009944"/>
          </a:solidFill>
          <a:ln w="8890">
            <a:solidFill>
              <a:srgbClr val="009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 flipV="1">
            <a:off x="7114032" y="2185416"/>
            <a:ext cx="859536" cy="877824"/>
          </a:xfrm>
          <a:prstGeom prst="line">
            <a:avLst/>
          </a:prstGeom>
          <a:ln w="13970">
            <a:solidFill>
              <a:srgbClr val="898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8060436" y="2857500"/>
            <a:ext cx="2880360" cy="804672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028431" y="2825496"/>
            <a:ext cx="2880360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028431" y="2825496"/>
            <a:ext cx="64008" cy="804672"/>
          </a:xfrm>
          <a:prstGeom prst="rect">
            <a:avLst/>
          </a:prstGeom>
          <a:solidFill>
            <a:srgbClr val="C8102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211311" y="2999232"/>
            <a:ext cx="384048" cy="384048"/>
          </a:xfrm>
          <a:prstGeom prst="ellipse">
            <a:avLst/>
          </a:prstGeom>
          <a:solidFill>
            <a:srgbClr val="C8102E"/>
          </a:solidFill>
          <a:ln w="762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11311" y="299923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>
                <a:latin typeface="Microsoft YaHei"/>
              </a:rPr>
              <a:t>【请填写验证方式】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05088" y="2990088"/>
            <a:ext cx="2020824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【请填写改善前】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8705088" y="3255263"/>
            <a:ext cx="1975104" cy="0"/>
          </a:xfrm>
          <a:prstGeom prst="line">
            <a:avLst/>
          </a:prstGeom>
          <a:ln w="762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8705088" y="3355848"/>
            <a:ext cx="19842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【请填写改善后】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66175" y="3538727"/>
            <a:ext cx="2404872" cy="32004"/>
          </a:xfrm>
          <a:prstGeom prst="rect">
            <a:avLst/>
          </a:prstGeom>
          <a:solidFill>
            <a:srgbClr val="C8102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7114032" y="3063240"/>
            <a:ext cx="859536" cy="164592"/>
          </a:xfrm>
          <a:prstGeom prst="line">
            <a:avLst/>
          </a:prstGeom>
          <a:ln w="13970">
            <a:solidFill>
              <a:srgbClr val="898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8060436" y="3899915"/>
            <a:ext cx="2880360" cy="804672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028431" y="3867911"/>
            <a:ext cx="2880360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028431" y="3867911"/>
            <a:ext cx="64008" cy="804672"/>
          </a:xfrm>
          <a:prstGeom prst="rect">
            <a:avLst/>
          </a:prstGeom>
          <a:solidFill>
            <a:srgbClr val="EB5C01"/>
          </a:solidFill>
          <a:ln w="8890"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211311" y="4041648"/>
            <a:ext cx="384048" cy="384048"/>
          </a:xfrm>
          <a:prstGeom prst="ellipse">
            <a:avLst/>
          </a:prstGeom>
          <a:solidFill>
            <a:srgbClr val="EB5C01"/>
          </a:solidFill>
          <a:ln w="7620"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11311" y="40416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05088" y="4032503"/>
            <a:ext cx="2020824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【请填写指标】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8705088" y="4297679"/>
            <a:ext cx="1975104" cy="0"/>
          </a:xfrm>
          <a:prstGeom prst="line">
            <a:avLst/>
          </a:prstGeom>
          <a:ln w="762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8705088" y="4398264"/>
            <a:ext cx="19842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【请填写数据】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266175" y="4581144"/>
            <a:ext cx="2404872" cy="32004"/>
          </a:xfrm>
          <a:prstGeom prst="rect">
            <a:avLst/>
          </a:prstGeom>
          <a:solidFill>
            <a:srgbClr val="EB5C01"/>
          </a:solidFill>
          <a:ln w="8890"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7114032" y="3063240"/>
            <a:ext cx="859536" cy="1207008"/>
          </a:xfrm>
          <a:prstGeom prst="line">
            <a:avLst/>
          </a:prstGeom>
          <a:ln w="13970">
            <a:solidFill>
              <a:srgbClr val="898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868680" y="5376672"/>
            <a:ext cx="10561320" cy="5303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68680" y="5376672"/>
            <a:ext cx="1627632" cy="530352"/>
          </a:xfrm>
          <a:prstGeom prst="rect">
            <a:avLst/>
          </a:prstGeom>
          <a:solidFill>
            <a:srgbClr val="C8102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88136" y="5586984"/>
            <a:ext cx="1170432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【请填写证据】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2788920" y="5522976"/>
            <a:ext cx="0" cy="237744"/>
          </a:xfrm>
          <a:prstGeom prst="line">
            <a:avLst/>
          </a:prstGeom>
          <a:ln w="1016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3026663" y="5559552"/>
            <a:ext cx="6812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【请填写结论】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8366760" y="5522976"/>
            <a:ext cx="0" cy="237744"/>
          </a:xfrm>
          <a:prstGeom prst="line">
            <a:avLst/>
          </a:prstGeom>
          <a:ln w="1016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8595360" y="5559552"/>
            <a:ext cx="2514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【请填写对策】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60704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对策实施三：Evidence 让每一次调整都可审计、可复盘、可回滚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96112" y="1060704"/>
            <a:ext cx="868680" cy="0"/>
          </a:xfrm>
          <a:prstGeom prst="line">
            <a:avLst/>
          </a:prstGeom>
          <a:ln w="254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96112" y="1170432"/>
            <a:ext cx="10058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【请填写本页说明：用一句话说明本页要表达的核心结论】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09344"/>
            <a:ext cx="10561320" cy="34015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29284" y="2135124"/>
            <a:ext cx="2084831" cy="1298448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2103120"/>
            <a:ext cx="2084831" cy="12984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2103120"/>
            <a:ext cx="64008" cy="1298448"/>
          </a:xfrm>
          <a:prstGeom prst="rect">
            <a:avLst/>
          </a:prstGeom>
          <a:solidFill>
            <a:srgbClr val="C8102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0160" y="2276856"/>
            <a:ext cx="384048" cy="384048"/>
          </a:xfrm>
          <a:prstGeom prst="ellipse">
            <a:avLst/>
          </a:prstGeom>
          <a:solidFill>
            <a:srgbClr val="C8102E"/>
          </a:solidFill>
          <a:ln w="762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27685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73936" y="2267712"/>
            <a:ext cx="1225295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【请填写内容】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73936" y="2532887"/>
            <a:ext cx="1179575" cy="0"/>
          </a:xfrm>
          <a:prstGeom prst="line">
            <a:avLst/>
          </a:prstGeom>
          <a:ln w="762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773936" y="2633472"/>
            <a:ext cx="1188719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【请填写指标】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35024" y="3310127"/>
            <a:ext cx="1609343" cy="32004"/>
          </a:xfrm>
          <a:prstGeom prst="rect">
            <a:avLst/>
          </a:prstGeom>
          <a:solidFill>
            <a:srgbClr val="C8102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3639312"/>
            <a:ext cx="1719072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【请填写数据】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55263" y="2743200"/>
            <a:ext cx="329185" cy="0"/>
          </a:xfrm>
          <a:prstGeom prst="line">
            <a:avLst/>
          </a:prstGeom>
          <a:ln w="13970">
            <a:solidFill>
              <a:srgbClr val="898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735324" y="2135124"/>
            <a:ext cx="2084831" cy="1298448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703320" y="2103120"/>
            <a:ext cx="2084831" cy="12984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03320" y="2103120"/>
            <a:ext cx="64008" cy="1298448"/>
          </a:xfrm>
          <a:prstGeom prst="rect">
            <a:avLst/>
          </a:prstGeom>
          <a:solidFill>
            <a:srgbClr val="EB5C01"/>
          </a:solidFill>
          <a:ln w="8890"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86200" y="2276856"/>
            <a:ext cx="384048" cy="384048"/>
          </a:xfrm>
          <a:prstGeom prst="ellipse">
            <a:avLst/>
          </a:prstGeom>
          <a:solidFill>
            <a:srgbClr val="EB5C01"/>
          </a:solidFill>
          <a:ln w="7620"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86200" y="227685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9976" y="2267712"/>
            <a:ext cx="1225295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【请填写证据】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379976" y="2532887"/>
            <a:ext cx="1179576" cy="0"/>
          </a:xfrm>
          <a:prstGeom prst="line">
            <a:avLst/>
          </a:prstGeom>
          <a:ln w="762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379976" y="2633472"/>
            <a:ext cx="1188719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【请填写结论】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41063" y="3310127"/>
            <a:ext cx="1609343" cy="32004"/>
          </a:xfrm>
          <a:prstGeom prst="rect">
            <a:avLst/>
          </a:prstGeom>
          <a:solidFill>
            <a:srgbClr val="EB5C01"/>
          </a:solidFill>
          <a:ln w="8890"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200" y="3639312"/>
            <a:ext cx="1719072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【请填写对策】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861304" y="2743200"/>
            <a:ext cx="329184" cy="0"/>
          </a:xfrm>
          <a:prstGeom prst="line">
            <a:avLst/>
          </a:prstGeom>
          <a:ln w="13970">
            <a:solidFill>
              <a:srgbClr val="898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41364" y="2135124"/>
            <a:ext cx="2084831" cy="1298448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09360" y="2103120"/>
            <a:ext cx="2084831" cy="12984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2103120"/>
            <a:ext cx="64008" cy="1298448"/>
          </a:xfrm>
          <a:prstGeom prst="rect">
            <a:avLst/>
          </a:prstGeom>
          <a:solidFill>
            <a:srgbClr val="1F4E79"/>
          </a:solidFill>
          <a:ln w="889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92240" y="2276856"/>
            <a:ext cx="384048" cy="384048"/>
          </a:xfrm>
          <a:prstGeom prst="ellipse">
            <a:avLst/>
          </a:prstGeom>
          <a:solidFill>
            <a:srgbClr val="1F4E79"/>
          </a:solidFill>
          <a:ln w="762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227685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86016" y="2267712"/>
            <a:ext cx="1225295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【请填写验证方式】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986016" y="2532887"/>
            <a:ext cx="1179576" cy="0"/>
          </a:xfrm>
          <a:prstGeom prst="line">
            <a:avLst/>
          </a:prstGeom>
          <a:ln w="762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986016" y="2633472"/>
            <a:ext cx="1188719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【请填写改善前】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47104" y="3310127"/>
            <a:ext cx="1609343" cy="32004"/>
          </a:xfrm>
          <a:prstGeom prst="rect">
            <a:avLst/>
          </a:prstGeom>
          <a:solidFill>
            <a:srgbClr val="1F4E79"/>
          </a:solidFill>
          <a:ln w="889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639312"/>
            <a:ext cx="1719072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【请填写改善后】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467344" y="2743200"/>
            <a:ext cx="329184" cy="0"/>
          </a:xfrm>
          <a:prstGeom prst="line">
            <a:avLst/>
          </a:prstGeom>
          <a:ln w="13970">
            <a:solidFill>
              <a:srgbClr val="898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947404" y="2135124"/>
            <a:ext cx="2084831" cy="1298448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915400" y="2103120"/>
            <a:ext cx="2084831" cy="12984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915400" y="2103120"/>
            <a:ext cx="64008" cy="1298448"/>
          </a:xfrm>
          <a:prstGeom prst="rect">
            <a:avLst/>
          </a:prstGeom>
          <a:solidFill>
            <a:srgbClr val="009944"/>
          </a:solidFill>
          <a:ln w="8890">
            <a:solidFill>
              <a:srgbClr val="009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098280" y="2276856"/>
            <a:ext cx="384048" cy="384048"/>
          </a:xfrm>
          <a:prstGeom prst="ellipse">
            <a:avLst/>
          </a:prstGeom>
          <a:solidFill>
            <a:srgbClr val="009944"/>
          </a:solidFill>
          <a:ln w="7620">
            <a:solidFill>
              <a:srgbClr val="009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98280" y="227685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92056" y="2267712"/>
            <a:ext cx="1225295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【请填写内容】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592056" y="2532887"/>
            <a:ext cx="1179576" cy="0"/>
          </a:xfrm>
          <a:prstGeom prst="line">
            <a:avLst/>
          </a:prstGeom>
          <a:ln w="762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592056" y="2633472"/>
            <a:ext cx="1188719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【请填写指标】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53144" y="3310127"/>
            <a:ext cx="1609343" cy="32004"/>
          </a:xfrm>
          <a:prstGeom prst="rect">
            <a:avLst/>
          </a:prstGeom>
          <a:solidFill>
            <a:srgbClr val="009944"/>
          </a:solidFill>
          <a:ln w="8890">
            <a:solidFill>
              <a:srgbClr val="009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98280" y="3639312"/>
            <a:ext cx="1719072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【请填写数据】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554480" y="1874519"/>
            <a:ext cx="7909560" cy="0"/>
          </a:xfrm>
          <a:prstGeom prst="line">
            <a:avLst/>
          </a:prstGeom>
          <a:ln w="127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429000" y="1700784"/>
            <a:ext cx="4206240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【请填写证据】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8680" y="5376672"/>
            <a:ext cx="10561320" cy="5303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68680" y="5376672"/>
            <a:ext cx="1627632" cy="530352"/>
          </a:xfrm>
          <a:prstGeom prst="rect">
            <a:avLst/>
          </a:prstGeom>
          <a:solidFill>
            <a:srgbClr val="C8102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88136" y="5586984"/>
            <a:ext cx="1170432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【请填写结论】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2788920" y="5522976"/>
            <a:ext cx="0" cy="237744"/>
          </a:xfrm>
          <a:prstGeom prst="line">
            <a:avLst/>
          </a:prstGeom>
          <a:ln w="1016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3026663" y="5559552"/>
            <a:ext cx="6812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【请填写对策】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366760" y="5522976"/>
            <a:ext cx="0" cy="237744"/>
          </a:xfrm>
          <a:prstGeom prst="line">
            <a:avLst/>
          </a:prstGeom>
          <a:ln w="1016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595360" y="5559552"/>
            <a:ext cx="2514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【请填写验证方式】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60704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关键技术障碍：通过约束、对策和结果表达工程闭环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96112" y="1060704"/>
            <a:ext cx="868680" cy="0"/>
          </a:xfrm>
          <a:prstGeom prst="line">
            <a:avLst/>
          </a:prstGeom>
          <a:ln w="254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96112" y="1170432"/>
            <a:ext cx="10058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【请填写本页说明：用一句话说明本页要表达的核心结论】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64208"/>
            <a:ext cx="10561320" cy="3383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20724" y="2272284"/>
            <a:ext cx="2651760" cy="1261872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88720" y="2240280"/>
            <a:ext cx="2651760" cy="1261872"/>
          </a:xfrm>
          <a:prstGeom prst="roundRect">
            <a:avLst/>
          </a:prstGeom>
          <a:solidFill>
            <a:srgbClr val="FDECE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0" y="2240280"/>
            <a:ext cx="64008" cy="1261872"/>
          </a:xfrm>
          <a:prstGeom prst="rect">
            <a:avLst/>
          </a:prstGeom>
          <a:solidFill>
            <a:srgbClr val="C8102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2414016"/>
            <a:ext cx="384048" cy="384048"/>
          </a:xfrm>
          <a:prstGeom prst="ellipse">
            <a:avLst/>
          </a:prstGeom>
          <a:solidFill>
            <a:srgbClr val="C8102E"/>
          </a:solidFill>
          <a:ln w="762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41401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65376" y="2404872"/>
            <a:ext cx="1792224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【请填写内容】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865376" y="2670048"/>
            <a:ext cx="1746504" cy="0"/>
          </a:xfrm>
          <a:prstGeom prst="line">
            <a:avLst/>
          </a:prstGeom>
          <a:ln w="762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865376" y="2770632"/>
            <a:ext cx="17556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【请填写指标】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26464" y="3410712"/>
            <a:ext cx="2176272" cy="32004"/>
          </a:xfrm>
          <a:prstGeom prst="rect">
            <a:avLst/>
          </a:prstGeom>
          <a:solidFill>
            <a:srgbClr val="C8102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41164" y="2272284"/>
            <a:ext cx="2651760" cy="1261872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09160" y="2240280"/>
            <a:ext cx="2651760" cy="12618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09160" y="2240280"/>
            <a:ext cx="64008" cy="1261872"/>
          </a:xfrm>
          <a:prstGeom prst="rect">
            <a:avLst/>
          </a:prstGeom>
          <a:solidFill>
            <a:srgbClr val="EB5C01"/>
          </a:solidFill>
          <a:ln w="8890"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92040" y="2414016"/>
            <a:ext cx="384048" cy="384048"/>
          </a:xfrm>
          <a:prstGeom prst="ellipse">
            <a:avLst/>
          </a:prstGeom>
          <a:solidFill>
            <a:srgbClr val="EB5C01"/>
          </a:solidFill>
          <a:ln w="7620"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241401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85816" y="2404872"/>
            <a:ext cx="1792224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【请填写数据】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385816" y="2670048"/>
            <a:ext cx="1746504" cy="0"/>
          </a:xfrm>
          <a:prstGeom prst="line">
            <a:avLst/>
          </a:prstGeom>
          <a:ln w="762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385816" y="2770632"/>
            <a:ext cx="17556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【请填写证据】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46904" y="3410712"/>
            <a:ext cx="2176272" cy="32004"/>
          </a:xfrm>
          <a:prstGeom prst="rect">
            <a:avLst/>
          </a:prstGeom>
          <a:solidFill>
            <a:srgbClr val="EB5C01"/>
          </a:solidFill>
          <a:ln w="8890"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61604" y="2272284"/>
            <a:ext cx="2651760" cy="1261872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0" y="2240280"/>
            <a:ext cx="2651760" cy="12618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2240280"/>
            <a:ext cx="64008" cy="1261872"/>
          </a:xfrm>
          <a:prstGeom prst="rect">
            <a:avLst/>
          </a:prstGeom>
          <a:solidFill>
            <a:srgbClr val="009944"/>
          </a:solidFill>
          <a:ln w="8890">
            <a:solidFill>
              <a:srgbClr val="009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12480" y="2414016"/>
            <a:ext cx="384048" cy="384048"/>
          </a:xfrm>
          <a:prstGeom prst="ellipse">
            <a:avLst/>
          </a:prstGeom>
          <a:solidFill>
            <a:srgbClr val="009944"/>
          </a:solidFill>
          <a:ln w="7620">
            <a:solidFill>
              <a:srgbClr val="009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241401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06256" y="2404872"/>
            <a:ext cx="1792224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【请填写结论】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906256" y="2670048"/>
            <a:ext cx="1746504" cy="0"/>
          </a:xfrm>
          <a:prstGeom prst="line">
            <a:avLst/>
          </a:prstGeom>
          <a:ln w="762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906256" y="2770632"/>
            <a:ext cx="17556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【请填写对策】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67344" y="3410712"/>
            <a:ext cx="2176272" cy="32004"/>
          </a:xfrm>
          <a:prstGeom prst="rect">
            <a:avLst/>
          </a:prstGeom>
          <a:solidFill>
            <a:srgbClr val="009944"/>
          </a:solidFill>
          <a:ln w="8890">
            <a:solidFill>
              <a:srgbClr val="009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3931920" y="2871216"/>
            <a:ext cx="640080" cy="0"/>
          </a:xfrm>
          <a:prstGeom prst="line">
            <a:avLst/>
          </a:prstGeom>
          <a:ln w="13970">
            <a:solidFill>
              <a:srgbClr val="898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452360" y="2871216"/>
            <a:ext cx="640080" cy="0"/>
          </a:xfrm>
          <a:prstGeom prst="line">
            <a:avLst/>
          </a:prstGeom>
          <a:ln w="13970">
            <a:solidFill>
              <a:srgbClr val="898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188720" y="3977639"/>
            <a:ext cx="9692640" cy="493776"/>
          </a:xfrm>
          <a:prstGeom prst="roundRect">
            <a:avLst/>
          </a:prstGeom>
          <a:solidFill>
            <a:srgbClr val="FDECEE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17320" y="4142232"/>
            <a:ext cx="9235440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【请填写验证方式】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" y="5376672"/>
            <a:ext cx="10561320" cy="5303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68680" y="5376672"/>
            <a:ext cx="1627632" cy="530352"/>
          </a:xfrm>
          <a:prstGeom prst="rect">
            <a:avLst/>
          </a:prstGeom>
          <a:solidFill>
            <a:srgbClr val="C8102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88136" y="5586984"/>
            <a:ext cx="1170432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【请填写改善前】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788920" y="5522976"/>
            <a:ext cx="0" cy="237744"/>
          </a:xfrm>
          <a:prstGeom prst="line">
            <a:avLst/>
          </a:prstGeom>
          <a:ln w="1016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026663" y="5559552"/>
            <a:ext cx="81381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【请填写改善后】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60704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验证体系：用自动化用例形成质量门禁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96112" y="1060704"/>
            <a:ext cx="868680" cy="0"/>
          </a:xfrm>
          <a:prstGeom prst="line">
            <a:avLst/>
          </a:prstGeom>
          <a:ln w="254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96112" y="1170432"/>
            <a:ext cx="10058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【请填写本页说明：用一句话说明本页要表达的核心结论】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874519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664207"/>
            <a:ext cx="1655063" cy="118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1901952"/>
            <a:ext cx="1655063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09944"/>
                </a:solidFill>
                <a:latin typeface="Microsoft YaHei"/>
              </a:rPr>
              <a:t>646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249424"/>
            <a:ext cx="1655063" cy="118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【请填写指标】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554480"/>
            <a:ext cx="1874519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81528" y="1664207"/>
            <a:ext cx="1655063" cy="118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【请填写数据】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1528" y="1901952"/>
            <a:ext cx="1655063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C8102E"/>
                </a:solidFill>
                <a:latin typeface="Microsoft YaHei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1528" y="2249424"/>
            <a:ext cx="1655063" cy="118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【请填写证据】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554480"/>
            <a:ext cx="1874519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38928" y="1664207"/>
            <a:ext cx="1655063" cy="118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【请填写结论】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8" y="1901952"/>
            <a:ext cx="1655063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Microsoft YaHei"/>
              </a:rPr>
              <a:t>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2249424"/>
            <a:ext cx="1655063" cy="118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【请填写对策】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1554480"/>
            <a:ext cx="1874519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96328" y="1664207"/>
            <a:ext cx="1655063" cy="118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【请填写验证方式】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6328" y="1901952"/>
            <a:ext cx="1655063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【请填写改善前】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96328" y="2249424"/>
            <a:ext cx="1655063" cy="118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【请填写改善后】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2816352"/>
            <a:ext cx="6492240" cy="228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0704" y="2926080"/>
            <a:ext cx="6199631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【请填写内容】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1115568" y="3218688"/>
          <a:ext cx="6080759" cy="1737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909560" y="2816352"/>
            <a:ext cx="3337560" cy="228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55864" y="2926080"/>
            <a:ext cx="304495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【请填写指标】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8055864" y="3236976"/>
          <a:ext cx="3044952" cy="17190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868680" y="5440680"/>
            <a:ext cx="10561320" cy="49377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8680" y="5440680"/>
            <a:ext cx="1627632" cy="493776"/>
          </a:xfrm>
          <a:prstGeom prst="rect">
            <a:avLst/>
          </a:prstGeom>
          <a:solidFill>
            <a:srgbClr val="C8102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8136" y="5650992"/>
            <a:ext cx="1170432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【请填写数据】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788920" y="5586984"/>
            <a:ext cx="0" cy="201168"/>
          </a:xfrm>
          <a:prstGeom prst="line">
            <a:avLst/>
          </a:prstGeom>
          <a:ln w="1016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026663" y="5623560"/>
            <a:ext cx="81381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【请填写证据】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475488"/>
            <a:ext cx="1060704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2600" b="1">
                <a:solidFill>
                  <a:srgbClr val="231815"/>
                </a:solidFill>
                <a:latin typeface="Microsoft YaHei"/>
              </a:defRPr>
            </a:pPr>
            <a:r>
              <a:rPr>
                <a:latin typeface="Microsoft YaHei"/>
              </a:rPr>
              <a:t>验证层级：分层门槛确保质量闭环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024128"/>
            <a:ext cx="841248" cy="3200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225296"/>
            <a:ext cx="9875520" cy="1645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1050" b="0">
                <a:solidFill>
                  <a:srgbClr val="787878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【请填写本页说明：用一句话说明本页要表达的核心结论】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1536192"/>
            <a:ext cx="5358384" cy="1143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1536192"/>
            <a:ext cx="73152" cy="114300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1737360"/>
            <a:ext cx="438912" cy="438912"/>
          </a:xfrm>
          <a:prstGeom prst="ellipse">
            <a:avLst/>
          </a:prstGeom>
          <a:solidFill>
            <a:srgbClr val="C8102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37360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1764792"/>
            <a:ext cx="1188720" cy="1645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1500" b="1">
                <a:solidFill>
                  <a:srgbClr val="C8102E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【请填写指标】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2148840"/>
            <a:ext cx="201168" cy="12801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1300" b="1">
                <a:solidFill>
                  <a:srgbClr val="202020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【请填写数据】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157984"/>
            <a:ext cx="685800" cy="1188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940" b="1">
                <a:solidFill>
                  <a:srgbClr val="202020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【请填写证据】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05456" y="2203704"/>
            <a:ext cx="0" cy="128016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660904" y="2157984"/>
            <a:ext cx="2286000" cy="1371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1000" b="0">
                <a:solidFill>
                  <a:srgbClr val="202020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【请填写结论】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478024"/>
            <a:ext cx="201168" cy="12801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1300" b="1">
                <a:solidFill>
                  <a:srgbClr val="202020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【请填写对策】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487168"/>
            <a:ext cx="438912" cy="1188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940" b="1">
                <a:solidFill>
                  <a:srgbClr val="202020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【请填写验证方式】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05456" y="2523744"/>
            <a:ext cx="0" cy="128016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660904" y="2487168"/>
            <a:ext cx="2651760" cy="1371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1000" b="0">
                <a:solidFill>
                  <a:srgbClr val="202020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【请填写改善前】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1536192"/>
            <a:ext cx="5358384" cy="1143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1536192"/>
            <a:ext cx="73152" cy="1143000"/>
          </a:xfrm>
          <a:prstGeom prst="rect">
            <a:avLst/>
          </a:prstGeom>
          <a:solidFill>
            <a:srgbClr val="EB5C01"/>
          </a:solidFill>
          <a:ln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82512" y="1737360"/>
            <a:ext cx="438912" cy="438912"/>
          </a:xfrm>
          <a:prstGeom prst="ellipse">
            <a:avLst/>
          </a:prstGeom>
          <a:solidFill>
            <a:srgbClr val="EB5C01"/>
          </a:solidFill>
          <a:ln w="8890"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1737360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【请填写改善后】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77456" y="1764792"/>
            <a:ext cx="1188720" cy="1645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1500" b="1">
                <a:solidFill>
                  <a:srgbClr val="EB5C01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77456" y="2148840"/>
            <a:ext cx="201168" cy="12801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1300" b="1">
                <a:solidFill>
                  <a:srgbClr val="202020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【请填写指标】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0064" y="2157984"/>
            <a:ext cx="685800" cy="1188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940" b="1">
                <a:solidFill>
                  <a:srgbClr val="202020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【请填写数据】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138160" y="2203704"/>
            <a:ext cx="0" cy="128016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293608" y="2157984"/>
            <a:ext cx="2286000" cy="1371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1000" b="0">
                <a:solidFill>
                  <a:srgbClr val="202020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【请填写证据】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95744" y="2478024"/>
            <a:ext cx="201168" cy="12801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1300" b="1">
                <a:solidFill>
                  <a:srgbClr val="202020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【请填写结论】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70064" y="2487168"/>
            <a:ext cx="438912" cy="1188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940" b="1">
                <a:solidFill>
                  <a:srgbClr val="202020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【请填写对策】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138160" y="2523744"/>
            <a:ext cx="0" cy="128016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293608" y="2487168"/>
            <a:ext cx="2651760" cy="1371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1000" b="0">
                <a:solidFill>
                  <a:srgbClr val="202020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【请填写验证方式】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2064" y="2871216"/>
            <a:ext cx="5358384" cy="1143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2064" y="2871216"/>
            <a:ext cx="73152" cy="1143000"/>
          </a:xfrm>
          <a:prstGeom prst="rect">
            <a:avLst/>
          </a:prstGeom>
          <a:solidFill>
            <a:srgbClr val="205482"/>
          </a:solidFill>
          <a:ln>
            <a:solidFill>
              <a:srgbClr val="205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49808" y="3072384"/>
            <a:ext cx="438912" cy="438912"/>
          </a:xfrm>
          <a:prstGeom prst="ellipse">
            <a:avLst/>
          </a:prstGeom>
          <a:solidFill>
            <a:srgbClr val="205482"/>
          </a:solidFill>
          <a:ln w="8890">
            <a:solidFill>
              <a:srgbClr val="205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3072384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【请填写改善前】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44752" y="3099816"/>
            <a:ext cx="1188720" cy="1645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1500" b="1">
                <a:solidFill>
                  <a:srgbClr val="205482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【请填写改善后】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44752" y="3483864"/>
            <a:ext cx="201168" cy="12801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1300" b="1">
                <a:solidFill>
                  <a:srgbClr val="202020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37360" y="3493008"/>
            <a:ext cx="685800" cy="1188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940" b="1">
                <a:solidFill>
                  <a:srgbClr val="202020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【请填写指标】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505456" y="3538728"/>
            <a:ext cx="0" cy="128016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660904" y="3493008"/>
            <a:ext cx="2286000" cy="1371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1000" b="0">
                <a:solidFill>
                  <a:srgbClr val="202020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【请填写数据】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63040" y="3813048"/>
            <a:ext cx="201168" cy="12801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1300" b="1">
                <a:solidFill>
                  <a:srgbClr val="202020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【请填写证据】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37360" y="3822191"/>
            <a:ext cx="438912" cy="1188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940" b="1">
                <a:solidFill>
                  <a:srgbClr val="202020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【请填写结论】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505456" y="3858768"/>
            <a:ext cx="0" cy="128016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660904" y="3822191"/>
            <a:ext cx="2651760" cy="1371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1000" b="0">
                <a:solidFill>
                  <a:srgbClr val="202020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【请填写对策】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44768" y="2871216"/>
            <a:ext cx="5358384" cy="11430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44768" y="2871216"/>
            <a:ext cx="73152" cy="1143000"/>
          </a:xfrm>
          <a:prstGeom prst="rect">
            <a:avLst/>
          </a:prstGeom>
          <a:solidFill>
            <a:srgbClr val="009444"/>
          </a:solidFill>
          <a:ln>
            <a:solidFill>
              <a:srgbClr val="009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382512" y="3072384"/>
            <a:ext cx="438912" cy="438912"/>
          </a:xfrm>
          <a:prstGeom prst="ellipse">
            <a:avLst/>
          </a:prstGeom>
          <a:solidFill>
            <a:srgbClr val="009444"/>
          </a:solidFill>
          <a:ln w="8890">
            <a:solidFill>
              <a:srgbClr val="009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82512" y="3072384"/>
            <a:ext cx="43891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【请填写验证方式】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77456" y="3099816"/>
            <a:ext cx="1188720" cy="1645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1500" b="1">
                <a:solidFill>
                  <a:srgbClr val="009444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【请填写改善前】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77456" y="3483864"/>
            <a:ext cx="201168" cy="12801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1300" b="1">
                <a:solidFill>
                  <a:srgbClr val="202020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【请填写改善后】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70064" y="3493008"/>
            <a:ext cx="685800" cy="1188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940" b="1">
                <a:solidFill>
                  <a:srgbClr val="202020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【请填写内容】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138160" y="3538728"/>
            <a:ext cx="0" cy="128016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293608" y="3493008"/>
            <a:ext cx="2286000" cy="1371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1000" b="0">
                <a:solidFill>
                  <a:srgbClr val="202020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【请填写指标】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95744" y="3813048"/>
            <a:ext cx="201168" cy="12801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1300" b="1">
                <a:solidFill>
                  <a:srgbClr val="202020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【请填写数据】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70064" y="3822191"/>
            <a:ext cx="438912" cy="1188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940" b="1">
                <a:solidFill>
                  <a:srgbClr val="202020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【请填写证据】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138160" y="3858768"/>
            <a:ext cx="0" cy="128016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293608" y="3822191"/>
            <a:ext cx="2651760" cy="1371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1000" b="0">
                <a:solidFill>
                  <a:srgbClr val="202020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【请填写结论】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12064" y="4434840"/>
            <a:ext cx="2359152" cy="868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94944" y="4663440"/>
            <a:ext cx="438912" cy="438912"/>
          </a:xfrm>
          <a:prstGeom prst="ellipse">
            <a:avLst/>
          </a:prstGeom>
          <a:solidFill>
            <a:srgbClr val="FAE8EC"/>
          </a:solidFill>
          <a:ln>
            <a:solidFill>
              <a:srgbClr val="FA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77240" y="4745736"/>
            <a:ext cx="274320" cy="1097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1800" b="1">
                <a:solidFill>
                  <a:srgbClr val="C8102E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【请填写对策】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80160" y="4636007"/>
            <a:ext cx="1444752" cy="12801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1030" b="0">
                <a:solidFill>
                  <a:srgbClr val="202020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【请填写验证方式】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43584" y="4892040"/>
            <a:ext cx="1444752" cy="2286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2050" b="1">
                <a:solidFill>
                  <a:srgbClr val="C8102E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【请填写改善前】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43584" y="5184648"/>
            <a:ext cx="1444752" cy="1097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880" b="0">
                <a:solidFill>
                  <a:srgbClr val="787878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【请填写改善后】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209544" y="4434840"/>
            <a:ext cx="2359152" cy="868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3392424" y="4663440"/>
            <a:ext cx="438912" cy="438912"/>
          </a:xfrm>
          <a:prstGeom prst="ellipse">
            <a:avLst/>
          </a:prstGeom>
          <a:solidFill>
            <a:srgbClr val="E6F5EC"/>
          </a:solidFill>
          <a:ln>
            <a:solidFill>
              <a:srgbClr val="E6F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474720" y="4745736"/>
            <a:ext cx="274320" cy="1097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1800" b="1">
                <a:solidFill>
                  <a:srgbClr val="009444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977640" y="4636007"/>
            <a:ext cx="1444752" cy="12801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1030" b="0">
                <a:solidFill>
                  <a:srgbClr val="202020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【请填写指标】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941064" y="4892040"/>
            <a:ext cx="1444752" cy="2286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2050" b="1">
                <a:solidFill>
                  <a:srgbClr val="009444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【请填写数据】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941064" y="5184648"/>
            <a:ext cx="1444752" cy="1097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880" b="0">
                <a:solidFill>
                  <a:srgbClr val="787878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【请填写证据】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907024" y="4434840"/>
            <a:ext cx="2359152" cy="868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089904" y="4663440"/>
            <a:ext cx="438912" cy="438912"/>
          </a:xfrm>
          <a:prstGeom prst="ellipse">
            <a:avLst/>
          </a:prstGeom>
          <a:solidFill>
            <a:srgbClr val="E7EFF8"/>
          </a:solidFill>
          <a:ln>
            <a:solidFill>
              <a:srgbClr val="E7EF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172200" y="4745736"/>
            <a:ext cx="274320" cy="1097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1800" b="1">
                <a:solidFill>
                  <a:srgbClr val="205482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【请填写结论】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75120" y="4636007"/>
            <a:ext cx="1444752" cy="12801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1030" b="0">
                <a:solidFill>
                  <a:srgbClr val="202020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【请填写对策】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38544" y="4892040"/>
            <a:ext cx="1444752" cy="2286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2050" b="1">
                <a:solidFill>
                  <a:srgbClr val="205482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【请填写验证方式】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638544" y="5184648"/>
            <a:ext cx="1444752" cy="1097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880" b="0">
                <a:solidFill>
                  <a:srgbClr val="787878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【请填写改善前】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604504" y="4434840"/>
            <a:ext cx="2359152" cy="868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787384" y="4663440"/>
            <a:ext cx="438912" cy="438912"/>
          </a:xfrm>
          <a:prstGeom prst="ellipse">
            <a:avLst/>
          </a:prstGeom>
          <a:solidFill>
            <a:srgbClr val="FDEEE2"/>
          </a:solidFill>
          <a:ln>
            <a:solidFill>
              <a:srgbClr val="FDE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869680" y="4745736"/>
            <a:ext cx="274320" cy="1097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1800" b="1">
                <a:solidFill>
                  <a:srgbClr val="EB5C01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【请填写改善后】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372600" y="4636007"/>
            <a:ext cx="1444752" cy="12801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1030" b="0">
                <a:solidFill>
                  <a:srgbClr val="202020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336024" y="4892040"/>
            <a:ext cx="1444752" cy="2286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2050" b="1">
                <a:solidFill>
                  <a:srgbClr val="EB5C01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【请填写指标】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336024" y="5184648"/>
            <a:ext cx="1444752" cy="10972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880" b="0">
                <a:solidFill>
                  <a:srgbClr val="787878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【请填写数据】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12064" y="5577840"/>
            <a:ext cx="10991088" cy="5486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12064" y="5577840"/>
            <a:ext cx="1554480" cy="548640"/>
          </a:xfrm>
          <a:prstGeom prst="rect">
            <a:avLst/>
          </a:prstGeom>
          <a:solidFill>
            <a:srgbClr val="C8102E"/>
          </a:solidFill>
          <a:ln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31520" y="5751576"/>
            <a:ext cx="1078992" cy="1188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【请填写证据】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2331720" y="5715000"/>
            <a:ext cx="0" cy="27432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2697480" y="5751576"/>
            <a:ext cx="8046720" cy="1371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defRPr sz="1080" b="0">
                <a:solidFill>
                  <a:srgbClr val="202020"/>
                </a:solidFill>
                <a:latin typeface="Microsoft YaHei"/>
              </a:defRPr>
            </a:pPr>
            <a:r>
              <a:rPr>
                <a:latin typeface="Microsoft YaHei"/>
              </a:rPr>
              <a:t>【请填写结论】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60704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效果确认：用图表呈现改善，用指标卡保留证据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96112" y="1060704"/>
            <a:ext cx="868680" cy="0"/>
          </a:xfrm>
          <a:prstGeom prst="line">
            <a:avLst/>
          </a:prstGeom>
          <a:ln w="254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96112" y="1170432"/>
            <a:ext cx="10058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【请填写本页说明：用一句话说明本页要表达的核心结论】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554480"/>
            <a:ext cx="5623560" cy="28346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1664207"/>
            <a:ext cx="533095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【请填写内容】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69848" y="1993391"/>
          <a:ext cx="5221224" cy="22128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12280" y="1554480"/>
            <a:ext cx="4434840" cy="28346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58584" y="1664207"/>
            <a:ext cx="4142231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【请填写指标】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013448" y="1993391"/>
          <a:ext cx="4032503" cy="221284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900684" y="4677156"/>
            <a:ext cx="2148840" cy="731520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4645152"/>
            <a:ext cx="2148840" cy="7315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7" y="4754880"/>
            <a:ext cx="1929384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【请填写数据】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7" y="4965192"/>
            <a:ext cx="192938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【请填写证据】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7" y="5266944"/>
            <a:ext cx="1929384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【请填写结论】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34156" y="4677156"/>
            <a:ext cx="2148840" cy="731520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02152" y="4645152"/>
            <a:ext cx="2148840" cy="7315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80" y="4754880"/>
            <a:ext cx="1929384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【请填写对策】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4965192"/>
            <a:ext cx="192938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B5C01"/>
                </a:solidFill>
                <a:latin typeface="Microsoft YaHei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5266944"/>
            <a:ext cx="1929384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【请填写验证方式】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7628" y="4677156"/>
            <a:ext cx="2148840" cy="731520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35624" y="4645152"/>
            <a:ext cx="2148840" cy="7315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45352" y="4754880"/>
            <a:ext cx="1929384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【请填写改善前】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5352" y="4965192"/>
            <a:ext cx="192938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【请填写改善后】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5352" y="5266944"/>
            <a:ext cx="1929384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01100" y="4677156"/>
            <a:ext cx="2148840" cy="731520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769096" y="4645152"/>
            <a:ext cx="2148840" cy="7315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78824" y="4754880"/>
            <a:ext cx="1929384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【请填写指标】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8824" y="4965192"/>
            <a:ext cx="1929384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【请填写数据】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5266944"/>
            <a:ext cx="1929384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【请填写证据】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5559552"/>
            <a:ext cx="10561320" cy="457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68680" y="5559552"/>
            <a:ext cx="1627632" cy="457200"/>
          </a:xfrm>
          <a:prstGeom prst="rect">
            <a:avLst/>
          </a:prstGeom>
          <a:solidFill>
            <a:srgbClr val="C8102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88136" y="5769864"/>
            <a:ext cx="1170432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【请填写结论】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788920" y="5705856"/>
            <a:ext cx="0" cy="164592"/>
          </a:xfrm>
          <a:prstGeom prst="line">
            <a:avLst/>
          </a:prstGeom>
          <a:ln w="1016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026663" y="5742432"/>
            <a:ext cx="81381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【请填写对策】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60704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风险关闭：用风险卡片支撑关闭/受控结论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96112" y="1060704"/>
            <a:ext cx="868680" cy="0"/>
          </a:xfrm>
          <a:prstGeom prst="line">
            <a:avLst/>
          </a:prstGeom>
          <a:ln w="254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96112" y="1170432"/>
            <a:ext cx="10058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【请填写本页说明：用一句话说明本页要表达的核心结论】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554480"/>
            <a:ext cx="2834640" cy="24688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1664207"/>
            <a:ext cx="254203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【请填写内容】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14983" y="1975104"/>
          <a:ext cx="2542032" cy="19019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009644" y="1586484"/>
            <a:ext cx="3246120" cy="1051560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977639" y="1554480"/>
            <a:ext cx="3246120" cy="1051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77639" y="1554480"/>
            <a:ext cx="73152" cy="1051560"/>
          </a:xfrm>
          <a:prstGeom prst="rect">
            <a:avLst/>
          </a:prstGeom>
          <a:solidFill>
            <a:srgbClr val="C8102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1673352"/>
            <a:ext cx="2880360" cy="118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【请填写指标】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1911095"/>
            <a:ext cx="2880360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【请填写数据】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121408"/>
            <a:ext cx="2880360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【请填写证据】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331720"/>
            <a:ext cx="2880360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【请填写结论】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1524" y="1586484"/>
            <a:ext cx="3246120" cy="1051560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589520" y="1554480"/>
            <a:ext cx="3246120" cy="1051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89520" y="1554480"/>
            <a:ext cx="73152" cy="1051560"/>
          </a:xfrm>
          <a:prstGeom prst="rect">
            <a:avLst/>
          </a:prstGeom>
          <a:solidFill>
            <a:srgbClr val="EB5C01"/>
          </a:solidFill>
          <a:ln w="8890"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1673352"/>
            <a:ext cx="2880360" cy="118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【请填写对策】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1911095"/>
            <a:ext cx="2880360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【请填写验证方式】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121408"/>
            <a:ext cx="2880360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【请填写改善前】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331720"/>
            <a:ext cx="2880360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【请填写改善后】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09644" y="2912364"/>
            <a:ext cx="3246120" cy="1051560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977639" y="2880360"/>
            <a:ext cx="3246120" cy="1051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77639" y="2880360"/>
            <a:ext cx="73152" cy="1051560"/>
          </a:xfrm>
          <a:prstGeom prst="rect">
            <a:avLst/>
          </a:prstGeom>
          <a:solidFill>
            <a:srgbClr val="1F4E79"/>
          </a:solidFill>
          <a:ln w="889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60520" y="2999232"/>
            <a:ext cx="2880360" cy="118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3236976"/>
            <a:ext cx="2880360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【请填写指标】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3447288"/>
            <a:ext cx="2880360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【请填写数据】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3657600"/>
            <a:ext cx="2880360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【请填写证据】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21524" y="2912364"/>
            <a:ext cx="3246120" cy="1051560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589520" y="2880360"/>
            <a:ext cx="3246120" cy="1051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89520" y="2880360"/>
            <a:ext cx="73152" cy="1051560"/>
          </a:xfrm>
          <a:prstGeom prst="rect">
            <a:avLst/>
          </a:prstGeom>
          <a:solidFill>
            <a:srgbClr val="009944"/>
          </a:solidFill>
          <a:ln w="8890">
            <a:solidFill>
              <a:srgbClr val="009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0" y="2999232"/>
            <a:ext cx="2880360" cy="118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【请填写结论】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3236976"/>
            <a:ext cx="2880360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【请填写对策】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3447288"/>
            <a:ext cx="2880360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【请填写验证方式】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3657600"/>
            <a:ext cx="2880360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【请填写改善前】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" y="5394960"/>
            <a:ext cx="10561320" cy="5303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8680" y="5394960"/>
            <a:ext cx="1627632" cy="530352"/>
          </a:xfrm>
          <a:prstGeom prst="rect">
            <a:avLst/>
          </a:prstGeom>
          <a:solidFill>
            <a:srgbClr val="C8102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88136" y="5605272"/>
            <a:ext cx="1170432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【请填写改善后】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788920" y="5541264"/>
            <a:ext cx="0" cy="237744"/>
          </a:xfrm>
          <a:prstGeom prst="line">
            <a:avLst/>
          </a:prstGeom>
          <a:ln w="1016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026663" y="5577840"/>
            <a:ext cx="81381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【请填写内容】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60704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成果总结：形成可量化效果、可复用资产和可推广方法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96112" y="1060704"/>
            <a:ext cx="868680" cy="0"/>
          </a:xfrm>
          <a:prstGeom prst="line">
            <a:avLst/>
          </a:prstGeom>
          <a:ln w="254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96112" y="1170432"/>
            <a:ext cx="10058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【请填写本页说明：用一句话说明本页要表达的核心结论】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00200"/>
            <a:ext cx="210312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709928"/>
            <a:ext cx="1883663" cy="118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1947672"/>
            <a:ext cx="1883663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09944"/>
                </a:solidFill>
                <a:latin typeface="Microsoft YaHei"/>
              </a:rPr>
              <a:t>646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295144"/>
            <a:ext cx="1883663" cy="118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【请填写指标】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600200"/>
            <a:ext cx="210312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55848" y="1709928"/>
            <a:ext cx="1883663" cy="118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【请填写数据】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5848" y="1947672"/>
            <a:ext cx="1883663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C8102E"/>
                </a:solidFill>
                <a:latin typeface="Microsoft YaHei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5848" y="2295144"/>
            <a:ext cx="1883663" cy="118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【请填写证据】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1600200"/>
            <a:ext cx="210312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87568" y="1709928"/>
            <a:ext cx="1883663" cy="118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【请填写结论】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7568" y="1947672"/>
            <a:ext cx="1883663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【请填写对策】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7568" y="2295144"/>
            <a:ext cx="1883663" cy="118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【请填写验证方式】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1600200"/>
            <a:ext cx="210312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19288" y="1709928"/>
            <a:ext cx="1883663" cy="118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【请填写改善前】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9288" y="1947672"/>
            <a:ext cx="1883663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【请填写改善后】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9288" y="2295144"/>
            <a:ext cx="1883663" cy="118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6403" y="3186684"/>
            <a:ext cx="2971800" cy="1143000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" y="3154680"/>
            <a:ext cx="29718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3154680"/>
            <a:ext cx="73152" cy="1143000"/>
          </a:xfrm>
          <a:prstGeom prst="rect">
            <a:avLst/>
          </a:prstGeom>
          <a:solidFill>
            <a:srgbClr val="C8102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15568" y="3355848"/>
            <a:ext cx="402336" cy="402336"/>
          </a:xfrm>
          <a:prstGeom prst="ellipse">
            <a:avLst/>
          </a:prstGeom>
          <a:solidFill>
            <a:srgbClr val="C8102E"/>
          </a:solidFill>
          <a:ln w="762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" y="3492642"/>
            <a:ext cx="402336" cy="8851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【请填写指标】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3355848"/>
            <a:ext cx="201168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【请填写数据】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3657600"/>
            <a:ext cx="20116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【请填写证据】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75404" y="3186684"/>
            <a:ext cx="2971800" cy="1143000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343400" y="3154680"/>
            <a:ext cx="29718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3154680"/>
            <a:ext cx="73152" cy="1143000"/>
          </a:xfrm>
          <a:prstGeom prst="rect">
            <a:avLst/>
          </a:prstGeom>
          <a:solidFill>
            <a:srgbClr val="EB5C01"/>
          </a:solidFill>
          <a:ln w="8890"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44568" y="3355848"/>
            <a:ext cx="402336" cy="402336"/>
          </a:xfrm>
          <a:prstGeom prst="ellipse">
            <a:avLst/>
          </a:prstGeom>
          <a:solidFill>
            <a:srgbClr val="EB5C01"/>
          </a:solidFill>
          <a:ln w="7620"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44568" y="3492642"/>
            <a:ext cx="402336" cy="8851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【请填写结论】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3355848"/>
            <a:ext cx="201168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【请填写对策】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3657600"/>
            <a:ext cx="20116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【请填写验证方式】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04404" y="3186684"/>
            <a:ext cx="2971800" cy="1143000"/>
          </a:xfrm>
          <a:prstGeom prst="roundRect">
            <a:avLst/>
          </a:prstGeom>
          <a:solidFill>
            <a:srgbClr val="ECECEC"/>
          </a:solidFill>
          <a:ln w="889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772400" y="3154680"/>
            <a:ext cx="29718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0" y="3154680"/>
            <a:ext cx="73152" cy="1143000"/>
          </a:xfrm>
          <a:prstGeom prst="rect">
            <a:avLst/>
          </a:prstGeom>
          <a:solidFill>
            <a:srgbClr val="1F4E79"/>
          </a:solidFill>
          <a:ln w="889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973568" y="3355848"/>
            <a:ext cx="402336" cy="402336"/>
          </a:xfrm>
          <a:prstGeom prst="ellipse">
            <a:avLst/>
          </a:prstGeom>
          <a:solidFill>
            <a:srgbClr val="1F4E79"/>
          </a:solidFill>
          <a:ln w="762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73568" y="3492642"/>
            <a:ext cx="402336" cy="8851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【请填写改善前】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9640" y="3355848"/>
            <a:ext cx="2011680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【请填写改善后】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9640" y="3657600"/>
            <a:ext cx="20116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8680" y="5394960"/>
            <a:ext cx="10561320" cy="5303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68680" y="5394960"/>
            <a:ext cx="1627632" cy="530352"/>
          </a:xfrm>
          <a:prstGeom prst="rect">
            <a:avLst/>
          </a:prstGeom>
          <a:solidFill>
            <a:srgbClr val="C8102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8136" y="5605272"/>
            <a:ext cx="1170432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【请填写指标】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788920" y="5541264"/>
            <a:ext cx="0" cy="237744"/>
          </a:xfrm>
          <a:prstGeom prst="line">
            <a:avLst/>
          </a:prstGeom>
          <a:ln w="1016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026663" y="5577840"/>
            <a:ext cx="81381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【请填写数据】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60704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标准化：把有效做法固化为流程、数据、测试和运维资产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96112" y="1060704"/>
            <a:ext cx="868680" cy="0"/>
          </a:xfrm>
          <a:prstGeom prst="line">
            <a:avLst/>
          </a:prstGeom>
          <a:ln w="254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96112" y="1170432"/>
            <a:ext cx="10058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【请填写本页说明：用一句话说明本页要表达的核心结论】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115568" y="1618488"/>
            <a:ext cx="0" cy="3401568"/>
          </a:xfrm>
          <a:prstGeom prst="line">
            <a:avLst/>
          </a:prstGeom>
          <a:ln w="2032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32688" y="1618488"/>
            <a:ext cx="365760" cy="365760"/>
          </a:xfrm>
          <a:prstGeom prst="roundRect">
            <a:avLst/>
          </a:prstGeom>
          <a:solidFill>
            <a:srgbClr val="C8102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737360"/>
            <a:ext cx="182880" cy="822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44752" y="1508760"/>
            <a:ext cx="10012680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82495" y="1719072"/>
            <a:ext cx="123444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【请填写指标】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46120" y="1636776"/>
            <a:ext cx="0" cy="310896"/>
          </a:xfrm>
          <a:prstGeom prst="line">
            <a:avLst/>
          </a:prstGeom>
          <a:ln w="1016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566160" y="1705356"/>
            <a:ext cx="7406640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【请填写数据】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" y="2331720"/>
            <a:ext cx="365760" cy="365760"/>
          </a:xfrm>
          <a:prstGeom prst="roundRect">
            <a:avLst/>
          </a:prstGeom>
          <a:solidFill>
            <a:srgbClr val="EB5C01"/>
          </a:solidFill>
          <a:ln w="8890"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450591"/>
            <a:ext cx="182880" cy="822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【请填写证据】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44752" y="2221991"/>
            <a:ext cx="10012680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82495" y="2432303"/>
            <a:ext cx="123444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【请填写结论】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46120" y="2350008"/>
            <a:ext cx="0" cy="310895"/>
          </a:xfrm>
          <a:prstGeom prst="line">
            <a:avLst/>
          </a:prstGeom>
          <a:ln w="1016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66160" y="2418587"/>
            <a:ext cx="7406640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【请填写对策】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" y="3044952"/>
            <a:ext cx="365760" cy="365760"/>
          </a:xfrm>
          <a:prstGeom prst="roundRect">
            <a:avLst/>
          </a:prstGeom>
          <a:solidFill>
            <a:srgbClr val="1F4E79"/>
          </a:solidFill>
          <a:ln w="889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3163824"/>
            <a:ext cx="182880" cy="822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【请填写验证方式】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44752" y="2935224"/>
            <a:ext cx="10012680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82495" y="3145536"/>
            <a:ext cx="123444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【请填写改善前】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246120" y="3063240"/>
            <a:ext cx="0" cy="310896"/>
          </a:xfrm>
          <a:prstGeom prst="line">
            <a:avLst/>
          </a:prstGeom>
          <a:ln w="1016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566160" y="3131820"/>
            <a:ext cx="7406640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【请填写改善后】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" y="3758183"/>
            <a:ext cx="365760" cy="365760"/>
          </a:xfrm>
          <a:prstGeom prst="roundRect">
            <a:avLst/>
          </a:prstGeom>
          <a:solidFill>
            <a:srgbClr val="009944"/>
          </a:solidFill>
          <a:ln w="8890">
            <a:solidFill>
              <a:srgbClr val="009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3877056"/>
            <a:ext cx="182880" cy="822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44752" y="3648456"/>
            <a:ext cx="10012680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82495" y="3858768"/>
            <a:ext cx="123444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【请填写指标】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246120" y="3776472"/>
            <a:ext cx="0" cy="310896"/>
          </a:xfrm>
          <a:prstGeom prst="line">
            <a:avLst/>
          </a:prstGeom>
          <a:ln w="1016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566160" y="3845052"/>
            <a:ext cx="7406640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【请填写数据】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2688" y="4471416"/>
            <a:ext cx="365760" cy="365760"/>
          </a:xfrm>
          <a:prstGeom prst="roundRect">
            <a:avLst/>
          </a:prstGeom>
          <a:solidFill>
            <a:srgbClr val="7030A0"/>
          </a:solidFill>
          <a:ln w="889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8" y="4590288"/>
            <a:ext cx="182880" cy="822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【请填写证据】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44752" y="4361688"/>
            <a:ext cx="10012680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82495" y="4571999"/>
            <a:ext cx="123444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【请填写结论】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246120" y="4489703"/>
            <a:ext cx="0" cy="310897"/>
          </a:xfrm>
          <a:prstGeom prst="line">
            <a:avLst/>
          </a:prstGeom>
          <a:ln w="1016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566160" y="4558283"/>
            <a:ext cx="7406640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【请填写对策】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" y="5321808"/>
            <a:ext cx="10561320" cy="5486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8680" y="5321808"/>
            <a:ext cx="1627632" cy="548640"/>
          </a:xfrm>
          <a:prstGeom prst="rect">
            <a:avLst/>
          </a:prstGeom>
          <a:solidFill>
            <a:srgbClr val="C8102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88136" y="5532120"/>
            <a:ext cx="1170432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【请填写验证方式】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788920" y="5468112"/>
            <a:ext cx="0" cy="256032"/>
          </a:xfrm>
          <a:prstGeom prst="line">
            <a:avLst/>
          </a:prstGeom>
          <a:ln w="1016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026663" y="5504688"/>
            <a:ext cx="81381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【请填写改善前】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60704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推广计划：从试点验证进入灰度推广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96112" y="1060704"/>
            <a:ext cx="868680" cy="0"/>
          </a:xfrm>
          <a:prstGeom prst="line">
            <a:avLst/>
          </a:prstGeom>
          <a:ln w="254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96112" y="1170432"/>
            <a:ext cx="10058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【请填写本页说明：用一句话说明本页要表达的核心结论】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115568" y="1892807"/>
            <a:ext cx="0" cy="2852929"/>
          </a:xfrm>
          <a:prstGeom prst="line">
            <a:avLst/>
          </a:prstGeom>
          <a:ln w="2032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32688" y="1892807"/>
            <a:ext cx="365760" cy="365760"/>
          </a:xfrm>
          <a:prstGeom prst="roundRect">
            <a:avLst/>
          </a:prstGeom>
          <a:solidFill>
            <a:srgbClr val="C8102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011680"/>
            <a:ext cx="182880" cy="822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44752" y="1783080"/>
            <a:ext cx="10012680" cy="85953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82495" y="2139696"/>
            <a:ext cx="123444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【请填写指标】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46120" y="1911095"/>
            <a:ext cx="0" cy="603505"/>
          </a:xfrm>
          <a:prstGeom prst="line">
            <a:avLst/>
          </a:prstGeom>
          <a:ln w="1016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566160" y="2125979"/>
            <a:ext cx="7406640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【请填写数据】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" y="2898648"/>
            <a:ext cx="365760" cy="365760"/>
          </a:xfrm>
          <a:prstGeom prst="roundRect">
            <a:avLst/>
          </a:prstGeom>
          <a:solidFill>
            <a:srgbClr val="EB5C01"/>
          </a:solidFill>
          <a:ln w="8890"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017520"/>
            <a:ext cx="182880" cy="822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【请填写证据】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44752" y="2788920"/>
            <a:ext cx="10012680" cy="85953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82495" y="3145536"/>
            <a:ext cx="123444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【请填写结论】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46120" y="2916936"/>
            <a:ext cx="0" cy="603503"/>
          </a:xfrm>
          <a:prstGeom prst="line">
            <a:avLst/>
          </a:prstGeom>
          <a:ln w="1016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66160" y="3131820"/>
            <a:ext cx="7406640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【请填写对策】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" y="3904488"/>
            <a:ext cx="365760" cy="365760"/>
          </a:xfrm>
          <a:prstGeom prst="roundRect">
            <a:avLst/>
          </a:prstGeom>
          <a:solidFill>
            <a:srgbClr val="1F4E79"/>
          </a:solidFill>
          <a:ln w="889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4023360"/>
            <a:ext cx="182880" cy="822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【请填写验证方式】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44752" y="3794760"/>
            <a:ext cx="10012680" cy="85953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82495" y="4151376"/>
            <a:ext cx="123444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【请填写改善前】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246120" y="3922776"/>
            <a:ext cx="0" cy="603504"/>
          </a:xfrm>
          <a:prstGeom prst="line">
            <a:avLst/>
          </a:prstGeom>
          <a:ln w="1016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566160" y="4137660"/>
            <a:ext cx="7406640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【请填写改善后】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5230368"/>
            <a:ext cx="10561320" cy="5486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" y="5230368"/>
            <a:ext cx="1627632" cy="548640"/>
          </a:xfrm>
          <a:prstGeom prst="rect">
            <a:avLst/>
          </a:prstGeom>
          <a:solidFill>
            <a:srgbClr val="C8102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8136" y="5440680"/>
            <a:ext cx="1170432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Microsoft YaHei"/>
              </a:rPr>
              <a:t>推广原则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788920" y="5376672"/>
            <a:ext cx="0" cy="256031"/>
          </a:xfrm>
          <a:prstGeom prst="line">
            <a:avLst/>
          </a:prstGeom>
          <a:ln w="1016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026663" y="5413248"/>
            <a:ext cx="81381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【请填写内容】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60704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下一步：把验证工程转化为可纳管、可观测、可回滚的平台能力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96112" y="1060704"/>
            <a:ext cx="868680" cy="0"/>
          </a:xfrm>
          <a:prstGeom prst="line">
            <a:avLst/>
          </a:prstGeom>
          <a:ln w="254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96112" y="1170432"/>
            <a:ext cx="10058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【请填写本页说明：用一句话说明本页要表达的核心结论】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115568" y="1892807"/>
            <a:ext cx="0" cy="2852929"/>
          </a:xfrm>
          <a:prstGeom prst="line">
            <a:avLst/>
          </a:prstGeom>
          <a:ln w="2032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32688" y="1892807"/>
            <a:ext cx="365760" cy="365760"/>
          </a:xfrm>
          <a:prstGeom prst="roundRect">
            <a:avLst/>
          </a:prstGeom>
          <a:solidFill>
            <a:srgbClr val="C8102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011680"/>
            <a:ext cx="182880" cy="822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44752" y="1783080"/>
            <a:ext cx="10012680" cy="85953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82495" y="2139696"/>
            <a:ext cx="123444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【请填写指标】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46120" y="1911095"/>
            <a:ext cx="0" cy="603505"/>
          </a:xfrm>
          <a:prstGeom prst="line">
            <a:avLst/>
          </a:prstGeom>
          <a:ln w="1016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566160" y="2125979"/>
            <a:ext cx="7406640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【请填写数据】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" y="2898648"/>
            <a:ext cx="365760" cy="365760"/>
          </a:xfrm>
          <a:prstGeom prst="roundRect">
            <a:avLst/>
          </a:prstGeom>
          <a:solidFill>
            <a:srgbClr val="EB5C01"/>
          </a:solidFill>
          <a:ln w="8890"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017520"/>
            <a:ext cx="182880" cy="822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【请填写证据】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44752" y="2788920"/>
            <a:ext cx="10012680" cy="85953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82495" y="3145536"/>
            <a:ext cx="123444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【请填写结论】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46120" y="2916936"/>
            <a:ext cx="0" cy="603503"/>
          </a:xfrm>
          <a:prstGeom prst="line">
            <a:avLst/>
          </a:prstGeom>
          <a:ln w="1016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66160" y="3131820"/>
            <a:ext cx="7406640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【请填写对策】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" y="3904488"/>
            <a:ext cx="365760" cy="365760"/>
          </a:xfrm>
          <a:prstGeom prst="roundRect">
            <a:avLst/>
          </a:prstGeom>
          <a:solidFill>
            <a:srgbClr val="1F4E79"/>
          </a:solidFill>
          <a:ln w="889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4023360"/>
            <a:ext cx="182880" cy="822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【请填写验证方式】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44752" y="3794760"/>
            <a:ext cx="10012680" cy="85953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82495" y="4151376"/>
            <a:ext cx="1234440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【请填写改善前】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246120" y="3922776"/>
            <a:ext cx="0" cy="603504"/>
          </a:xfrm>
          <a:prstGeom prst="line">
            <a:avLst/>
          </a:prstGeom>
          <a:ln w="1016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566160" y="4137660"/>
            <a:ext cx="7406640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【请填写改善后】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5230368"/>
            <a:ext cx="10561320" cy="5486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" y="5230368"/>
            <a:ext cx="1627632" cy="548640"/>
          </a:xfrm>
          <a:prstGeom prst="rect">
            <a:avLst/>
          </a:prstGeom>
          <a:solidFill>
            <a:srgbClr val="C8102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8136" y="5440680"/>
            <a:ext cx="1170432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Microsoft YaHei"/>
              </a:rPr>
              <a:t>下一步重点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788920" y="5376672"/>
            <a:ext cx="0" cy="256031"/>
          </a:xfrm>
          <a:prstGeom prst="line">
            <a:avLst/>
          </a:prstGeom>
          <a:ln w="1016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026663" y="5413248"/>
            <a:ext cx="81381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【请填写内容】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60704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总结：本轮 QCC 完成从问题改善到标准推广的质量闭环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896112" y="1060704"/>
            <a:ext cx="868680" cy="0"/>
          </a:xfrm>
          <a:prstGeom prst="line">
            <a:avLst/>
          </a:prstGeom>
          <a:ln w="254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96112" y="1170432"/>
            <a:ext cx="10058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【请填写本页说明：用一句话说明本页要表达的核心结论】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554480"/>
            <a:ext cx="196596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22191" y="1719072"/>
            <a:ext cx="502920" cy="502920"/>
          </a:xfrm>
          <a:prstGeom prst="roundRect">
            <a:avLst/>
          </a:prstGeom>
          <a:solidFill>
            <a:srgbClr val="C8102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41063" y="1865376"/>
            <a:ext cx="274320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【请填写内容】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2272" y="1901952"/>
            <a:ext cx="960120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【请填写指标】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554480"/>
            <a:ext cx="196596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56831" y="1719072"/>
            <a:ext cx="502920" cy="502920"/>
          </a:xfrm>
          <a:prstGeom prst="roundRect">
            <a:avLst/>
          </a:prstGeom>
          <a:solidFill>
            <a:srgbClr val="EB5C01"/>
          </a:solidFill>
          <a:ln w="8890">
            <a:solidFill>
              <a:srgbClr val="EB5C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75703" y="1865376"/>
            <a:ext cx="274320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【请填写数据】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01952"/>
            <a:ext cx="960120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【请填写证据】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3246120"/>
            <a:ext cx="196596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56831" y="3410712"/>
            <a:ext cx="502920" cy="502920"/>
          </a:xfrm>
          <a:prstGeom prst="roundRect">
            <a:avLst/>
          </a:prstGeom>
          <a:solidFill>
            <a:srgbClr val="009944"/>
          </a:solidFill>
          <a:ln w="8890">
            <a:solidFill>
              <a:srgbClr val="009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75703" y="3557015"/>
            <a:ext cx="274320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【请填写结论】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6912" y="3593591"/>
            <a:ext cx="960120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【请填写对策】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3246120"/>
            <a:ext cx="196596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22191" y="3410712"/>
            <a:ext cx="502920" cy="502920"/>
          </a:xfrm>
          <a:prstGeom prst="roundRect">
            <a:avLst/>
          </a:prstGeom>
          <a:solidFill>
            <a:srgbClr val="1F4E79"/>
          </a:solidFill>
          <a:ln w="889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41063" y="3557015"/>
            <a:ext cx="274320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【请填写验证方式】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3593591"/>
            <a:ext cx="960120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【请填写改善前】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50992" y="2029967"/>
            <a:ext cx="704088" cy="0"/>
          </a:xfrm>
          <a:prstGeom prst="line">
            <a:avLst/>
          </a:prstGeom>
          <a:ln w="13970">
            <a:solidFill>
              <a:srgbClr val="898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479792" y="2542032"/>
            <a:ext cx="0" cy="658368"/>
          </a:xfrm>
          <a:prstGeom prst="line">
            <a:avLst/>
          </a:prstGeom>
          <a:ln w="13970">
            <a:solidFill>
              <a:srgbClr val="898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5650992" y="3730752"/>
            <a:ext cx="704088" cy="0"/>
          </a:xfrm>
          <a:prstGeom prst="line">
            <a:avLst/>
          </a:prstGeom>
          <a:ln w="13970">
            <a:solidFill>
              <a:srgbClr val="898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685032" y="2542032"/>
            <a:ext cx="0" cy="658368"/>
          </a:xfrm>
          <a:prstGeom prst="line">
            <a:avLst/>
          </a:prstGeom>
          <a:ln w="13970">
            <a:solidFill>
              <a:srgbClr val="8989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68680" y="5193792"/>
            <a:ext cx="10561320" cy="60350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8680" y="5193792"/>
            <a:ext cx="1627632" cy="603504"/>
          </a:xfrm>
          <a:prstGeom prst="rect">
            <a:avLst/>
          </a:prstGeom>
          <a:solidFill>
            <a:srgbClr val="C8102E"/>
          </a:solidFill>
          <a:ln w="889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8136" y="5404104"/>
            <a:ext cx="1170432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Microsoft YaHei"/>
              </a:rPr>
              <a:t>核心结论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788920" y="5340096"/>
            <a:ext cx="0" cy="310896"/>
          </a:xfrm>
          <a:prstGeom prst="line">
            <a:avLst/>
          </a:prstGeom>
          <a:ln w="1016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026663" y="5376672"/>
            <a:ext cx="6812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latin typeface="Microsoft YaHei"/>
              </a:rPr>
              <a:t>【请填写改善后】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366760" y="5340096"/>
            <a:ext cx="0" cy="310896"/>
          </a:xfrm>
          <a:prstGeom prst="line">
            <a:avLst/>
          </a:prstGeom>
          <a:ln w="1016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595360" y="5376672"/>
            <a:ext cx="2514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latin typeface="Microsoft YaHei"/>
              </a:rPr>
              <a:t>【请填写内容】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FC2917F5-FC52-4782-A0FF-AE2013F589C8}"/>
    </a:ext>
  </a:extLst>
</a:theme>
</file>

<file path=ppt/theme/theme2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25829FED-7996-4B48-8C44-EBA668E4F8ED}"/>
    </a:ext>
  </a:extLst>
</a:theme>
</file>

<file path=ppt/theme/theme3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6DF1AB71-8E54-4DA3-96CA-45CA365BFE54}"/>
    </a:ext>
  </a:extLst>
</a:theme>
</file>

<file path=ppt/theme/theme4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1AA013AF-7C2E-4A39-9796-86760F640C19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MWC 19-PPT模板-白底 16比9</Template>
  <TotalTime>88</TotalTime>
  <Words>55</Words>
  <Application>Microsoft Office PowerPoint</Application>
  <PresentationFormat>自定义</PresentationFormat>
  <Paragraphs>49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黑体</vt:lpstr>
      <vt:lpstr>Microsoft YaHei</vt:lpstr>
      <vt:lpstr>Arial</vt:lpstr>
      <vt:lpstr>Calibri</vt:lpstr>
      <vt:lpstr>Calibri Light</vt:lpstr>
      <vt:lpstr>1_Title Slide</vt:lpstr>
      <vt:lpstr>Chart page</vt:lpstr>
      <vt:lpstr>4_Chart page</vt:lpstr>
      <vt:lpstr>End page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AutoBVT</dc:creator>
  <cp:lastModifiedBy>Hanke (A)</cp:lastModifiedBy>
  <cp:revision>11</cp:revision>
  <dcterms:created xsi:type="dcterms:W3CDTF">2018-12-05T07:23:25Z</dcterms:created>
  <dcterms:modified xsi:type="dcterms:W3CDTF">2021-01-28T09:59:27Z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(3)9K7MhttPmctKTlAepJVghc5jVCKqhwlg3WUynTcyZRlAqvXwyh4Oh5MUn/S1qsRekxYaSjf0
xAMb+XIVmiFW19LQ5rzY8SxUDMVg4vj7tzi0SPjrpQaZEh2i7Q63wUANwPymQ9KhvkOpupId
8g/WiPz/3mo9lw2+u0HERtEEQOFSNHxTfxkHcxU8CosEcorCYU1bf3Ron8rzicflycNnYO6T
HSqLQgGez4SDJnplgK</vt:lpwstr>
  </property>
  <property fmtid="{D5CDD505-2E9C-101B-9397-08002B2CF9AE}" pid="3" name="_2015_ms_pID_7253431">
    <vt:lpwstr>82SGjRTEfRs+Omq1PLLlyH6r/NUeGWJLUTXD4xX4AdBDIbA5M3xGE1
FJDhGJWv+ZwJEBjSUU7vQG7pD9Re+jwOMeH8KvtBR51uSvL8QqKWID096WZ7sSv/LL5pae3t
XPEALNuJBpV72sbxfdY4icFZGPfj4727kRAWuT9uG/4Al1hW+8FJdNQ/J9I8uxSoEyoyJ96g
hvAj6RniZYqx1mFTVrh3xskdX0KPyR3xTPNI</vt:lpwstr>
  </property>
  <property fmtid="{D5CDD505-2E9C-101B-9397-08002B2CF9AE}" pid="4" name="_2015_ms_pID_7253432">
    <vt:lpwstr>zr4dAB7xmHqg7+bcC24Pv9M=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1575429571</vt:lpwstr>
  </property>
</Properties>
</file>